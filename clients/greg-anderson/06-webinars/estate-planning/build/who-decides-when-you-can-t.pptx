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everybody. I'm Greg Anderson, with Balanced Financial here in Fort Collins, and I'm glad you're here."</a:t>
            </a:r>
          </a:p>
          <a:p/>
          <a:p>
            <a:r>
              <a:t>[Smile. Look at the camera, not the screen.]</a:t>
            </a:r>
          </a:p>
          <a:p/>
          <a:p>
            <a:r>
              <a:t>"We'll start in just a minute while people come in. While you're waiting, type in the chat where you're watching from today. Fort Collins, Loveland, Windsor, Greeley, wherever you are."</a:t>
            </a:r>
          </a:p>
          <a:p/>
          <a:p>
            <a:r>
              <a:t>[Read three or four back by first name and town. Greet each one.]</a:t>
            </a:r>
          </a:p>
          <a:p/>
          <a:p>
            <a:r>
              <a:t>"Welcome. It's good to have you. Here's the question this whole hour is built around. Who decides when you can't? Not who gets the money someday. Who decides, and how fast, if something happens to you or your spouse tomorrow morning. By the end of this hour, you'll be able to answer that question for your own family, and you'll have a checklist to prove it. Let's make sure you're in the right room."</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sure this hour is worth your time."</a:t>
            </a:r>
          </a:p>
          <a:p/>
          <a:p>
            <a:r>
              <a:t>[Read each line slowly. Pause after each one.]</a:t>
            </a:r>
          </a:p>
          <a:p/>
          <a:p>
            <a:r>
              <a:t>"You have an old will, or none at all. You've meant to get to it for years. You have a trust, but you're not sure it's set up right. Someone in your family needs extra care, or you're a blended family. His, hers, and ours. If even one of those is you, you're exactly where you should be."</a:t>
            </a:r>
          </a:p>
          <a:p/>
          <a:p>
            <a:r>
              <a:t>"And here's who this isn't for. If you're looking for do-it-yourself legal forms, or a stock tip, this isn't that hour. I'll save you the time."</a:t>
            </a:r>
          </a:p>
          <a:p/>
          <a:p>
            <a:r>
              <a:t>[PAUSE.]</a:t>
            </a:r>
          </a:p>
          <a:p/>
          <a:p>
            <a:r>
              <a:t>"One more. If you're a grown son or daughter who's here because you're worried about Mom and Dad, welcome. You're in the right place too. Take good notes. You may be the one who gets this done."</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little housekeeping, and then we'll get going."</a:t>
            </a:r>
          </a:p>
          <a:p/>
          <a:p>
            <a:r>
              <a:t>"This runs about an hour. I'll teach for about forty-five minutes, and then we'll take your questions. If you have to leave early, don't worry. There's a replay, and I'll send it to everyone who registered."</a:t>
            </a:r>
          </a:p>
          <a:p/>
          <a:p>
            <a:r>
              <a:t>"Use the chat. I read it. If I can't get to your question live, I'll get back to you."</a:t>
            </a:r>
          </a:p>
          <a:p/>
          <a:p>
            <a:r>
              <a:t>"You should have a workbook in your email. If you have it open, great. If not, a piece of paper works fine. I'll tell you when to write."</a:t>
            </a:r>
          </a:p>
          <a:p/>
          <a:p>
            <a:r>
              <a:t>"Now the important part, and I'll say it plainly. This is an educational session, and it includes an invitation to meet. Nothing today is legal advice or tax advice. I'm not an attorney. In our work, estate documents are drafted by a licensed Colorado attorney, and your situation deserves your own professional's eyes. And because I'm licensed in insurance as well as investments, I'm required to tell you that insurance or investment products may be discussed if we meet one on one. Not today. Today is education."</a:t>
            </a:r>
          </a:p>
          <a:p/>
          <a:p>
            <a:r>
              <a:t>[CONFIRM before airing: Greg's exact registrations and the approver's required wording. The KB lists hybrid insurance plus RIA as INFERRED.]</a:t>
            </a:r>
          </a:p>
          <a:p/>
          <a:p>
            <a:r>
              <a:t>"So it's not a surprise later: at the end, I'll tell you about something I call the PATH Review. It's a one-hour meeting where we look at your own situation, and you walk out with a one-page PATH Map and a Legacy Document Checklist. No cost. I'll explain it at the end. You won't miss it."</a:t>
            </a:r>
          </a:p>
          <a:p/>
          <a:p>
            <a:r>
              <a:t>"Quick poll on your screen. What brought you here today? Pick the one that fits best."</a:t>
            </a:r>
          </a:p>
          <a:p/>
          <a:p>
            <a:r>
              <a:t>[Launch the poll: 'No plan yet' / 'Old will or trust' / 'Worried about a parent' / 'Just learning'. Leave it open twenty seconds. Read the results out loud.]</a:t>
            </a:r>
          </a:p>
          <a:p/>
          <a:p>
            <a:r>
              <a:t>"Thank you. That helps me. Now let me tell you why I do this work, with a story."</a:t>
            </a:r>
          </a:p>
          <a:p/>
          <a:p>
            <a:r>
              <a:t>Timing: about two and a half minutes.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start with a family I'll never forget."</a:t>
            </a:r>
          </a:p>
          <a:p/>
          <a:p>
            <a:r>
              <a:t>[Slow down. Tell this plainly. Leave everything else off the screen.]</a:t>
            </a:r>
          </a:p>
          <a:p/>
          <a:p>
            <a:r>
              <a:t>"I've changed some details to protect their privacy. But the bones of this story are true."</a:t>
            </a:r>
          </a:p>
          <a:p/>
          <a:p>
            <a:r>
              <a:t>"A couple came into my office. They were leaving their jobs and rolling their retirement accounts over from work. Good savers. Sensible people who had done a lot of things right."</a:t>
            </a:r>
          </a:p>
          <a:p/>
          <a:p>
            <a:r>
              <a:t>"While we were working on the accounts, we talked about their documents. Their wills. A trust. Powers of attorney. They didn't have any. None."</a:t>
            </a:r>
          </a:p>
          <a:p/>
          <a:p>
            <a:r>
              <a:t>[PAUSE. Count to three.]</a:t>
            </a:r>
          </a:p>
          <a:p/>
          <a:p>
            <a:r>
              <a:t>"And this family wasn't simple. They have grown children who need ongoing care, and always will. Children who will always need someone looking out for them. So if either parent died, or couldn't make decisions, there were real questions with no answers. Who manages the money? Who has the authority to sign? What happens to the kids' care?"</a:t>
            </a:r>
          </a:p>
          <a:p/>
          <a:p>
            <a:r>
              <a:t>"So we did both jobs at the same time. We finished the rollovers. And they put the documents in place: living trusts and powers of attorney. The whole set."</a:t>
            </a:r>
          </a:p>
          <a:p/>
          <a:p>
            <a:r>
              <a:t>"And then life went on, the way it does."</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year and one day after we finished, her husband died."</a:t>
            </a:r>
          </a:p>
          <a:p/>
          <a:p>
            <a:r>
              <a:t>[PAUSE. Count to three. It will feel like ten.]</a:t>
            </a:r>
          </a:p>
          <a:p/>
          <a:p>
            <a:r>
              <a:t>"Suddenly. A health event nobody saw coming. No warning, no long illness, no time to get anything in order."</a:t>
            </a:r>
          </a:p>
          <a:p/>
          <a:p>
            <a:r>
              <a:t>"Now, I can't make that easier for her. Nobody can. But here's what I can tell you. On the money and the paperwork side, she could carry on. Everything was already in order. The accounts were where they needed to be. The documents existed. She didn't have to start from zero on the worst day of her life."</a:t>
            </a:r>
          </a:p>
          <a:p/>
          <a:p>
            <a:r>
              <a:t>"One year and one day. If they had put it off one more year, this would be a very different story."</a:t>
            </a:r>
          </a:p>
          <a:p/>
          <a:p>
            <a:r>
              <a:t>[Let that sit. Don't rush to the next slide.]</a:t>
            </a:r>
          </a:p>
          <a:p/>
          <a:p>
            <a:r>
              <a:t>"I tell you that story first because it's the whole hour in one picture. They didn't do it because they were rich. They didn't do it to save on taxes. They did it so that when the worst day came, the person left behind could keep going."</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line this whole hour turns on."</a:t>
            </a:r>
          </a:p>
          <a:p/>
          <a:p>
            <a:r>
              <a:t>[PAUSE.]</a:t>
            </a:r>
          </a:p>
          <a:p/>
          <a:p>
            <a:r>
              <a:t>"Estate planning isn't about what you'll owe. It's about who decides. Who decides when you can't. And how fast your family can carry on without a judge in the middle of it."</a:t>
            </a:r>
          </a:p>
          <a:p/>
          <a:p>
            <a:r>
              <a:t>[PAUSE. Count to three.]</a:t>
            </a:r>
          </a:p>
          <a:p/>
          <a:p>
            <a:r>
              <a:t>"Hold on to that. Everything else today hangs on it."</a:t>
            </a:r>
          </a:p>
          <a:p/>
          <a:p>
            <a:r>
              <a:t>Timing: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go further, a little about me. I share this not to impress you, but to impress upon you that I've sat where you're sitting. On the other side of the desk, with families like yours, for more than twenty-five years."</a:t>
            </a:r>
          </a:p>
          <a:p/>
          <a:p>
            <a:r>
              <a:t>[CONFIRM years in practice before airing. The KB has 27, 33, and 'since 1987'. 'More than twenty-five' is true for all three.]</a:t>
            </a:r>
          </a:p>
          <a:p/>
          <a:p>
            <a:r>
              <a:t>"I'm Greg Anderson. I hold the RICP, the Retirement Income Certified Professional designation from The American College of Financial Services. It's training in turning savings into income that lasts."</a:t>
            </a:r>
          </a:p>
          <a:p/>
          <a:p>
            <a:r>
              <a:t>"My office here in Fort Collins brings three things under one roof: a tax practice, Fort Collins Tax Advisory Group; an investment advisory firm, Balanced Wealth Partners; and Balanced Financial. So your taxes, your money, and your family's plan get looked at in the same room."</a:t>
            </a:r>
          </a:p>
          <a:p/>
          <a:p>
            <a:r>
              <a:t>"Some of you know me from my Social Security classes, or from the radio."</a:t>
            </a:r>
          </a:p>
          <a:p/>
          <a:p>
            <a:r>
              <a:t>"And here's what I'm not. I'm not an attorney. I don't draft your will or your trust, and I won't interpret one for you. That's the attorney's job, and it should be. My job is to make sure the documents, the accounts, and the tax picture actually line up. Most of the trouble I see lives in the gaps between those three."</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promise you'll leave with today. Three things."</a:t>
            </a:r>
          </a:p>
          <a:p/>
          <a:p>
            <a:r>
              <a:t>[Read each card word for word. These match the registration page.]</a:t>
            </a:r>
          </a:p>
          <a:p/>
          <a:p>
            <a:r>
              <a:t>"One. What really happens in Colorado if you die or can't make decisions, and how to keep your family out of court."</a:t>
            </a:r>
          </a:p>
          <a:p/>
          <a:p>
            <a:r>
              <a:t>"Two. The overlooked pieces that undo good plans: beneficiaries, titles, and a trust with nothing in it."</a:t>
            </a:r>
          </a:p>
          <a:p/>
          <a:p>
            <a:r>
              <a:t>"Three. A simple checklist to know exactly where your plan stands today."</a:t>
            </a:r>
          </a:p>
          <a:p/>
          <a:p>
            <a:r>
              <a:t>"And my commitment to you: I'll hold nothing back. If you never meet with me, you should still leave this hour with a to-do list you can hand to your attorney. That's the deal."</a:t>
            </a:r>
          </a:p>
          <a:p/>
          <a:p>
            <a:r>
              <a:t>"Let's start with you."</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ask you a few questions. Just answer in your head for now."</a:t>
            </a:r>
          </a:p>
          <a:p/>
          <a:p>
            <a:r>
              <a:t>[Read each one slowly. One-beat pause after each.]</a:t>
            </a:r>
          </a:p>
          <a:p/>
          <a:p>
            <a:r>
              <a:t>"Have you said, 'We really need to do our wills,' more than once this year? Was your will signed before you moved to Colorado, or back when your kids were in grade school? Do you know, today, who's named as the beneficiary on every retirement account you own? If you have a trust, have you ever checked what's actually in it? And if you're the one who handles the money in your house, would your spouse know where everything is tomorrow morning?"</a:t>
            </a:r>
          </a:p>
          <a:p/>
          <a:p>
            <a:r>
              <a:t>[PAUSE. Count to three.]</a:t>
            </a:r>
          </a:p>
          <a:p/>
          <a:p>
            <a:r>
              <a:t>"Here's my first chat question. Type YES in the chat if you've said 'we need to get to this' more than once. Be honest. Nobody's grading."</a:t>
            </a:r>
          </a:p>
          <a:p/>
          <a:p>
            <a:r>
              <a:t>[Wait. Read two or three back by first name.]</a:t>
            </a:r>
          </a:p>
          <a:p/>
          <a:p>
            <a:r>
              <a:t>"Thank you. You're in good company. Grab your workbook, page one. At the top, next to 'Year my will was signed,' write the year. If you don't have one, write NONE. Then do the same for a trust and for powers of attorney. Ten seconds."</a:t>
            </a:r>
          </a:p>
          <a:p/>
          <a:p>
            <a:r>
              <a:t>[Stay silent for ten seconds.]</a:t>
            </a:r>
          </a:p>
          <a:p/>
          <a:p>
            <a:r>
              <a:t>"Good. There's a reason so many smart people say 'we'll get to it' and never do. Let's talk about it."</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most people in this room believe. And it's a reasonable thing to believe."</a:t>
            </a:r>
          </a:p>
          <a:p/>
          <a:p>
            <a:r>
              <a:t>[PAUSE.]</a:t>
            </a:r>
          </a:p>
          <a:p/>
          <a:p>
            <a:r>
              <a:t>"We're not rich. Estate planning is for rich people. And we have a will, or we'll get one. So we're fine."</a:t>
            </a:r>
          </a:p>
          <a:p/>
          <a:p>
            <a:r>
              <a:t>"I understand why people believe that. For years, estate planning was sold as a tax problem. Ads about death taxes. Articles about the estate tax. If you've heard the words 'estate planning' your whole life right next to the word 'tax,' of course you think it's for somebody with a lot more money than you."</a:t>
            </a:r>
          </a:p>
          <a:p/>
          <a:p>
            <a:r>
              <a:t>"And the will part makes sense too. A will feels like the finish line. You sign it, you put it in a drawer, and you feel like a responsible adult. I get it."</a:t>
            </a:r>
          </a:p>
          <a:p/>
          <a:p>
            <a:r>
              <a:t>"So let's test that belief. Most of my clients are engineers, so we're going to test it the way they would. With numbers."</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plus two equals four. Let's do the math."</a:t>
            </a:r>
          </a:p>
          <a:p/>
          <a:p>
            <a:r>
              <a:t>[Point to the first number.]</a:t>
            </a:r>
          </a:p>
          <a:p/>
          <a:p>
            <a:r>
              <a:t>"Number one. Colorado has no estate tax and no inheritance tax. Zero. Colorado doesn't take a cut when you die."</a:t>
            </a:r>
          </a:p>
          <a:p/>
          <a:p>
            <a:r>
              <a:t>"Number two. The federal estate tax, for 2026, starts at fifteen million dollars per person. Fifteen million. For almost everyone on this call, the estate tax is not your problem. Let me say that again, because a lot of people spend money and sleep worrying about it. For most families here, estate tax is not the problem."</a:t>
            </a:r>
          </a:p>
          <a:p/>
          <a:p>
            <a:r>
              <a:t>[PAUSE.]</a:t>
            </a:r>
          </a:p>
          <a:p/>
          <a:p>
            <a:r>
              <a:t>"So what is? Number three. Colorado has a shortcut for small estates. Your family can collect your belongings with a simple affidavit, no court filing, if the estate is under eighty-eight thousand dollars for 2026 deaths. And it's for personal property. It generally doesn't cover your house."</a:t>
            </a:r>
          </a:p>
          <a:p/>
          <a:p>
            <a:r>
              <a:t>"Now, the median home in Larimer County is worth six hundred and ten thousand dollars. And more than eight out of ten households here headed by someone sixty-five or older own their home."</a:t>
            </a:r>
          </a:p>
          <a:p/>
          <a:p>
            <a:r>
              <a:t>"So two plus two. If you own a home here, you are almost certainly not a small estate. Not because you're rich. Because of your house."</a:t>
            </a:r>
          </a:p>
          <a:p/>
          <a:p>
            <a:r>
              <a:t>[PAUSE. Count to three.]</a:t>
            </a:r>
          </a:p>
          <a:p/>
          <a:p>
            <a:r>
              <a:t>"That's the real issue. Not tax. Court. Time. And who's allowed to make decisions."</a:t>
            </a:r>
          </a:p>
          <a:p/>
          <a:p>
            <a:r>
              <a:t>[BOOKING CALLOUT] "By the way, if you'd like to see how this math works for your own family, the link to book a PATH Review is in the chat. No need to do it now. Let's keep going."</a:t>
            </a:r>
          </a:p>
          <a:p/>
          <a:p>
            <a:r>
              <a:t>[Producer: post the booking link in the chat now.]</a:t>
            </a:r>
          </a:p>
          <a:p/>
          <a:p>
            <a:r>
              <a:t>Timing: about two and a half minutes.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go back to that family for a minute. And let me run the other version. This part is hypothetical. It didn't happen, and I'm grateful it didn't."</a:t>
            </a:r>
          </a:p>
          <a:p/>
          <a:p>
            <a:r>
              <a:t>"Say they'd put it off. Say they'd said, 'We'll get to it next year,' and next year came a day too late."</a:t>
            </a:r>
          </a:p>
          <a:p/>
          <a:p>
            <a:r>
              <a:t>"Here's what Colorado law lays out. Within ten days of a death, any will has to be filed with the district court, even if nobody plans to go to probate. Without a plan that keeps assets out of court, someone has to ask the court to put them in charge, and they can't even file until five days after the death. That person then has thirty days to send out notices, and ninety days to put together an inventory of everything."</a:t>
            </a:r>
          </a:p>
          <a:p/>
          <a:p>
            <a:r>
              <a:t>"Then the creditors get their turn. A notice runs in the paper three weeks in a row, and creditors get at least four months to come forward. And an informal estate can't close any sooner than six months after that person is appointed."</a:t>
            </a:r>
          </a:p>
          <a:p/>
          <a:p>
            <a:r>
              <a:t>[PAUSE.]</a:t>
            </a:r>
          </a:p>
          <a:p/>
          <a:p>
            <a:r>
              <a:t>"Those are the minimums. That's the fast lane."</a:t>
            </a:r>
          </a:p>
          <a:p/>
          <a:p>
            <a:r>
              <a:t>"Now think about those grown children who need ongoing care. If money lands the wrong way for someone who depends on certain government benefits, it can cause real problems. For one of the main federal programs, the resource limit for an individual is two thousand dollars. Two thousand. That's how tight those rules are. That's exactly the kind of thing a good attorney plans around, with the right kind of trust. Without a plan, nobody planned around it."</a:t>
            </a:r>
          </a:p>
          <a:p/>
          <a:p>
            <a:r>
              <a:t>"Same family. Same love. Same money. One year apart. A completely different year for the widow."</a:t>
            </a:r>
          </a:p>
          <a:p/>
          <a:p>
            <a:r>
              <a:t>Timing: about two and a half minutes.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want to say out loud something a lot of people carry quietly."</a:t>
            </a:r>
          </a:p>
          <a:p/>
          <a:p>
            <a:r>
              <a:t>[Soften your voice. Slow down.]</a:t>
            </a:r>
          </a:p>
          <a:p/>
          <a:p>
            <a:r>
              <a:t>"In most marriages, one person handles the money. Pays the bills. Knows the passwords. Talks to the CPA. Knows which account is where."</a:t>
            </a:r>
          </a:p>
          <a:p/>
          <a:p>
            <a:r>
              <a:t>"And the quiet worry sounds like this. 'If something happens to me, my spouse won't know where anything is. And I've never sat down and shown them.'"</a:t>
            </a:r>
          </a:p>
          <a:p/>
          <a:p>
            <a:r>
              <a:t>[PAUSE. Count to three.]</a:t>
            </a:r>
          </a:p>
          <a:p/>
          <a:p>
            <a:r>
              <a:t>"If that's you, type ME in the chat. Just the word ME."</a:t>
            </a:r>
          </a:p>
          <a:p/>
          <a:p>
            <a:r>
              <a:t>[Wait. Read two or three back by first name. Be warm about it.]</a:t>
            </a:r>
          </a:p>
          <a:p/>
          <a:p>
            <a:r>
              <a:t>"Thank you. I see a lot of you. That's not a character flaw. That's just how households work. Somebody has to drive. But it's also exactly where we're going today, because the person who handles everything is the person whose plan matters most."</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I want you to hear. If you're behind on this, it's not your fault."</a:t>
            </a:r>
          </a:p>
          <a:p/>
          <a:p>
            <a:r>
              <a:t>"For years, families have been told one thing: get a will. As if a will finishes the job. It doesn't. But nobody explains the rest."</a:t>
            </a:r>
          </a:p>
          <a:p/>
          <a:p>
            <a:r>
              <a:t>"And here's the bigger problem. In most families, the taxes get done in one office. The investments sit in another office. The documents, if there are any, came from a third office, years ago. And those three people have never sat at the same table. I call it the Three-Office Problem."</a:t>
            </a:r>
          </a:p>
          <a:p/>
          <a:p>
            <a:r>
              <a:t>"So the attorney drafts a beautiful trust, and the accounts never get moved into it. The investment firm has beneficiary forms from twenty years ago. The CPA never hears about any of it. Everybody did their part. Nobody connected the pieces."</a:t>
            </a:r>
          </a:p>
          <a:p/>
          <a:p>
            <a:r>
              <a:t>"And then there's the head trash. 'It's morbid.' 'We're not rich enough.' 'The kids will figure it out.' That's not a plan. That's just noise that keeps good people from finishing."</a:t>
            </a:r>
          </a:p>
          <a:p/>
          <a:p>
            <a:r>
              <a:t>"So here's where the problem really is. The failures don't happen in the documents. They happen in the gaps between them."</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where we're headed today."</a:t>
            </a:r>
          </a:p>
          <a:p/>
          <a:p>
            <a:r>
              <a:t>[Read each line slowly.]</a:t>
            </a:r>
          </a:p>
          <a:p/>
          <a:p>
            <a:r>
              <a:t>"From 'we'll get to it,' to done, this season. From guessing what happens, to knowing exactly what passes how. From a court deciding, to you deciding. From 'the kids will figure it out,' to a family that knows the plan, because you showed them."</a:t>
            </a:r>
          </a:p>
          <a:p/>
          <a:p>
            <a:r>
              <a:t>"That's the other side. And it's not complicated. It just has to be done in the right order, by the right people, and then checked."</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put it in one sentence. And I suspect you've already gotten here yourself."</a:t>
            </a:r>
          </a:p>
          <a:p/>
          <a:p>
            <a:r>
              <a:t>[PAUSE.]</a:t>
            </a:r>
          </a:p>
          <a:p/>
          <a:p>
            <a:r>
              <a:t>"An estate plan isn't about how much you have, or what you'll owe. It's about who decides when you can't, and keeping your family out of court."</a:t>
            </a:r>
          </a:p>
          <a:p/>
          <a:p>
            <a:r>
              <a:t>[PAUSE. Count to three.]</a:t>
            </a:r>
          </a:p>
          <a:p/>
          <a:p>
            <a:r>
              <a:t>"If you take one thing home today, take that."</a:t>
            </a:r>
          </a:p>
          <a:p/>
          <a:p>
            <a:r>
              <a:t>Timing: about forty-five seconds.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how I learned this lesson, because I learned it before my career even started."</a:t>
            </a:r>
          </a:p>
          <a:p/>
          <a:p>
            <a:r>
              <a:t>"I went to college for construction and finance. I was trained to be a commercial real estate developer. That was the plan."</a:t>
            </a:r>
          </a:p>
          <a:p/>
          <a:p>
            <a:r>
              <a:t>"Then, right around the time I graduated, Congress passed the Tax Reform Act of 1986. It took away the write-offs that made a lot of real estate projects work. Put a glut of empty office space on top of that, and development dried up. To me, it felt like a ghost town."</a:t>
            </a:r>
          </a:p>
          <a:p/>
          <a:p>
            <a:r>
              <a:t>"A law I had nothing to do with changed my whole plan."</a:t>
            </a:r>
          </a:p>
          <a:p/>
          <a:p>
            <a:r>
              <a:t>[PAUSE.]</a:t>
            </a:r>
          </a:p>
          <a:p/>
          <a:p>
            <a:r>
              <a:t>"So I moved into a field that was brand new at the time: financial planning. And here's what I've seen ever since. Rules change. Markets change. People get sick. Plans, products, and companies are all imperfect. The families who do well aren't the lucky ones. They're the ones who planned for what goes wrong, so that when it does, they can make lemonade out of lemons."</a:t>
            </a:r>
          </a:p>
          <a:p/>
          <a:p>
            <a:r>
              <a:t>"That's the whole idea behind how I work. And it has a name."</a:t>
            </a:r>
          </a:p>
          <a:p/>
          <a:p>
            <a:r>
              <a:t>[GAP: the framework calls for Greg's personal planning story here (his own family, a loss, a mistake he saw at home). The KB has none. Ask Greg. Until then, use only the career story above and invent nothing.]</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call it the PATH Plan. P, A, T, H. Because what my clients tell me they want most is a path to run on."</a:t>
            </a:r>
          </a:p>
          <a:p/>
          <a:p>
            <a:r>
              <a:t>[Point to each step as you name it.]</a:t>
            </a:r>
          </a:p>
          <a:p/>
          <a:p>
            <a:r>
              <a:t>"P is Paycheck. What you need each year, and where it comes from. A is Assets. Positioning your money by the job it has to do. T is Taxes. Our tax practice looks at your actual return and the years ahead. And H is Heirs. Making sure that if one of you dies, or can't decide, the other one is OK, and the kids aren't left with a puzzle."</a:t>
            </a:r>
          </a:p>
          <a:p/>
          <a:p>
            <a:r>
              <a:t>"And then every year, we walk the PATH again. Because life changes, and your plan should keep up."</a:t>
            </a:r>
          </a:p>
          <a:p/>
          <a:p>
            <a:r>
              <a:t>"Today, we're going deep on the H. Heirs. I'm going to teach you three big ideas. If you get these three, you'll know more about this than most people who already have a will."</a:t>
            </a:r>
          </a:p>
          <a:p/>
          <a:p>
            <a:r>
              <a:t>"Grab your workbook. We're about to use it."</a:t>
            </a:r>
          </a:p>
          <a:p/>
          <a:p>
            <a:r>
              <a:t>[Producer: pin the booking link in the chat now and leave it pinned for the rest of the session.]</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number one."</a:t>
            </a:r>
          </a:p>
          <a:p/>
          <a:p>
            <a:r>
              <a:t>[PAUSE.]</a:t>
            </a:r>
          </a:p>
          <a:p/>
          <a:p>
            <a:r>
              <a:t>"A will doesn't keep your family out of court."</a:t>
            </a:r>
          </a:p>
          <a:p/>
          <a:p>
            <a:r>
              <a:t>"I know. For a lot of people, that's the one that stings. They paid for a will precisely so their family wouldn't have to deal with a court. So let me show you why it's true, and what actually does keep assets out of court."</a:t>
            </a:r>
          </a:p>
          <a:p/>
          <a:p>
            <a:r>
              <a:t>Timing: about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everything you own as going down one of four roads when you die."</a:t>
            </a:r>
          </a:p>
          <a:p/>
          <a:p>
            <a:r>
              <a:t>"Road one is the will. Your will doesn't avoid the court. It's the instruction manual for the court. In Colorado, it has to be filed with the district court within ten days of death. Anything that only has the will telling it where to go, goes through probate."</a:t>
            </a:r>
          </a:p>
          <a:p/>
          <a:p>
            <a:r>
              <a:t>"Road two is beneficiary forms. Your IRA, your 401(k), your life insurance. Those generally go to whoever is named on the form, not whoever is named in your will. That's powerful. And it's dangerous if the form is twenty years old."</a:t>
            </a:r>
          </a:p>
          <a:p/>
          <a:p>
            <a:r>
              <a:t>"Road three is one a lot of Colorado homeowners have never heard of. It's called a beneficiary deed. You sign it and record it while you're alive. You keep full control of the house. You can change it or revoke it. And at your death, the house passes to whoever you named. Your will can't override it. If you own rentals, all those tenants and toilets, this is worth asking your attorney about."</a:t>
            </a:r>
          </a:p>
          <a:p/>
          <a:p>
            <a:r>
              <a:t>"Road four is a funded trust. A living trust only controls what's actually titled in its name. The trust is the bucket. Funding is putting the water in."</a:t>
            </a:r>
          </a:p>
          <a:p/>
          <a:p>
            <a:r>
              <a:t>"Grab your workbook, page two. Next to each of your big assets, write which road it's on today: will, beneficiary form, deed, or trust. If you don't know, write a question mark. Question marks are fine. That's what the page is for."</a:t>
            </a:r>
          </a:p>
          <a:p/>
          <a:p>
            <a:r>
              <a:t>[Stay silent for thirty seconds. Let them write.]</a:t>
            </a:r>
          </a:p>
          <a:p/>
          <a:p>
            <a:r>
              <a:t>"Here's a quick one for the chat. Type the year your will was signed. Or type NONE."</a:t>
            </a:r>
          </a:p>
          <a:p/>
          <a:p>
            <a:r>
              <a:t>[Read a few back. React honestly to old years, with a light touch: 'Nineteen ninety-four. That will is old enough to rent a car.']</a:t>
            </a:r>
          </a:p>
          <a:p/>
          <a:p>
            <a:r>
              <a:t>Timing: about three and a half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this real with a hypothetical. Not a client. Just the rules, applied to a typical house here."</a:t>
            </a:r>
          </a:p>
          <a:p/>
          <a:p>
            <a:r>
              <a:t>"Picture a widow in Larimer County. Her husband passed a few years ago. She owns her home, worth about the county median, six hundred and ten thousand dollars. She has a will. A good one. It leaves everything to her two kids, equally. That's it. No beneficiary deed. No trust."</a:t>
            </a:r>
          </a:p>
          <a:p/>
          <a:p>
            <a:r>
              <a:t>"She passes away. Here's her kids' calendar, at a minimum."</a:t>
            </a:r>
          </a:p>
          <a:p/>
          <a:p>
            <a:r>
              <a:t>[Count on your fingers as you go.]</a:t>
            </a:r>
          </a:p>
          <a:p/>
          <a:p>
            <a:r>
              <a:t>"Within ten days, the will gets filed with the court. After five days, one of the kids can ask to be appointed. Then thirty days to send notices. Ninety days for the inventory. Notice to creditors in the paper, three weeks running. At least four months for creditors to come forward. And no informal closing sooner than six months after appointment."</a:t>
            </a:r>
          </a:p>
          <a:p/>
          <a:p>
            <a:r>
              <a:t>"The house is way over the eighty-eight thousand dollar small-estate limit, and that shortcut generally doesn't cover real estate anyway. So the house waits on the process. Somebody keeps paying the utilities, the insurance, and the property taxes. Two kids who live in different states are trading emails about a furnace."</a:t>
            </a:r>
          </a:p>
          <a:p/>
          <a:p>
            <a:r>
              <a:t>"Her will did exactly what a will does. It told the court what to do. It just didn't keep her family out of court."</a:t>
            </a:r>
          </a:p>
          <a:p/>
          <a:p>
            <a:r>
              <a:t>[PAUSE.]</a:t>
            </a:r>
          </a:p>
          <a:p/>
          <a:p>
            <a:r>
              <a:t>"Now, a beneficiary deed recorded years earlier is one way an attorney might have changed that picture. Whether it's right for you is a conversation for your attorney, not for me. But you should know the road exists."</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number two. And this is the one almost everybody misses."</a:t>
            </a:r>
          </a:p>
          <a:p/>
          <a:p>
            <a:r>
              <a:t>[PAUSE.]</a:t>
            </a:r>
          </a:p>
          <a:p/>
          <a:p>
            <a:r>
              <a:t>"The deadline isn't death. The deadline is the day you can no longer make decisions."</a:t>
            </a:r>
          </a:p>
          <a:p/>
          <a:p>
            <a:r>
              <a:t>"Most people think estate planning is about what happens after you die. But what if you don't die? What if you have a stroke, or a bad fall, or a long illness, and you're still here, but you can't sign your name? Who pays the bills then? Who talks to the bank?"</a:t>
            </a:r>
          </a:p>
          <a:p/>
          <a:p>
            <a:r>
              <a:t>Timing: about forty-five seconds.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most married couples get wrong. They assume that if one of them can't make decisions, the other one can just sign. 'We're married. I'll handle it.'"</a:t>
            </a:r>
          </a:p>
          <a:p/>
          <a:p>
            <a:r>
              <a:t>"Not automatically. Being married doesn't give your spouse authority over accounts in your name. A durable financial power of attorney is what gives someone that authority."</a:t>
            </a:r>
          </a:p>
          <a:p/>
          <a:p>
            <a:r>
              <a:t>"In Colorado, there's good news in the details. Under the state's Uniform Power of Attorney Act, a power of attorney made on or after January first, 2010 is durable by default. That means it keeps working if you become incapacitated, unless it says otherwise. And when it's signed in front of a notary, the signature is presumed genuine. Those are good, practical rules."</a:t>
            </a:r>
          </a:p>
          <a:p/>
          <a:p>
            <a:r>
              <a:t>"Then there's the health care side. You want documents that say who speaks for you with your doctors, and what you'd want. Your attorney will tell you exactly which ones Colorado uses. I won't pretend to be the expert there."</a:t>
            </a:r>
          </a:p>
          <a:p/>
          <a:p>
            <a:r>
              <a:t>"And without these documents? Your family may have to go to court and ask a judge to appoint someone to manage your money or make decisions for you. While you're still alive. That's a court process, and it's not how anybody wants to spend that season."</a:t>
            </a:r>
          </a:p>
          <a:p/>
          <a:p>
            <a:r>
              <a:t>"Workbook, page three. Write the name of the person you'd want making money decisions if you couldn't. Then the person for health care decisions. And then the most important box on the page: does that person know?"</a:t>
            </a:r>
          </a:p>
          <a:p/>
          <a:p>
            <a:r>
              <a:t>[Stay silent for thirty seconds.]</a:t>
            </a:r>
          </a:p>
          <a:p/>
          <a:p>
            <a:r>
              <a:t>"Quick chat check. Type POA if you have a signed financial power of attorney today. Type NOT SURE if you don't know."</a:t>
            </a:r>
          </a:p>
          <a:p/>
          <a:p>
            <a:r>
              <a:t>[Read a few back. Thank the people who say NOT SURE. That's an honest answer, and a common one.]</a:t>
            </a:r>
          </a:p>
          <a:p/>
          <a:p>
            <a:r>
              <a:t>Timing: about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give you a hypothetical. It's a composite of a very common household. Not a real client."</a:t>
            </a:r>
          </a:p>
          <a:p/>
          <a:p>
            <a:r>
              <a:t>"He's a retired engineer. He's the one who handles everything. The spreadsheets, the accounts, the taxes. His wife has never logged into any of it, and she's never needed to. They have wills. Old ones. No powers of attorney. 'We'll get to it.'"</a:t>
            </a:r>
          </a:p>
          <a:p/>
          <a:p>
            <a:r>
              <a:t>"He has a stroke. He survives. But for months, he can't manage money or sign anything."</a:t>
            </a:r>
          </a:p>
          <a:p/>
          <a:p>
            <a:r>
              <a:t>[PAUSE.]</a:t>
            </a:r>
          </a:p>
          <a:p/>
          <a:p>
            <a:r>
              <a:t>"His wife needs to move money from his IRA to pay for his care. She calls the custodian. And the custodian says, very politely, 'We'll need to see a power of attorney.' She doesn't have one. He can't sign one now. And his will doesn't help, because he's alive."</a:t>
            </a:r>
          </a:p>
          <a:p/>
          <a:p>
            <a:r>
              <a:t>"So now she may be asking a court for permission to handle her own husband's affairs. At the hardest time of her life."</a:t>
            </a:r>
          </a:p>
          <a:p/>
          <a:p>
            <a:r>
              <a:t>"Now run it the other way. Same stroke. But three years earlier, they each signed a durable financial power of attorney and health care documents, and he showed her where everything was. She calls the custodian, she sends the document, she pays the bills. It's still a hard season. But she's in charge."</a:t>
            </a:r>
          </a:p>
          <a:p/>
          <a:p>
            <a:r>
              <a:t>"That's Big Idea Two. The deadline isn't death. It's the day you can't sign."</a:t>
            </a:r>
          </a:p>
          <a:p/>
          <a:p>
            <a:r>
              <a:t>[BOOKING CALLOUT] "If you're sitting there thinking, 'I'm honestly not sure what we have,' that's exactly what the PATH Review is for. The link is pinned in the chat. Grab a time whenever you're ready, and let's keep going."</a:t>
            </a:r>
          </a:p>
          <a:p/>
          <a:p>
            <a:r>
              <a:t>Timing: about two and a half minutes.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idea number three. This is the one that catches people who did everything right."</a:t>
            </a:r>
          </a:p>
          <a:p/>
          <a:p>
            <a:r>
              <a:t>[PAUSE.]</a:t>
            </a:r>
          </a:p>
          <a:p/>
          <a:p>
            <a:r>
              <a:t>"A plan nobody maintains is a plan that fails."</a:t>
            </a:r>
          </a:p>
          <a:p/>
          <a:p>
            <a:r>
              <a:t>"You can have a trust, a will, and powers of attorney, all signed, all notarized, and still leave a mess. Because documents don't update themselves. Life keeps moving. Accounts move. Families change. Laws change."</a:t>
            </a:r>
          </a:p>
          <a:p/>
          <a:p>
            <a:r>
              <a:t>Timing: about forty-five seconds.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drift. Here they are."</a:t>
            </a:r>
          </a:p>
          <a:p/>
          <a:p>
            <a:r>
              <a:t>"One, beneficiaries. Every retirement account and life insurance policy has a beneficiary form, and those forms generally control where that money goes, ahead of the will. So after a marriage, a divorce, a death, or a new grandchild, you check every single one. A form you filled out twenty years ago can send money somewhere you'd never choose today."</a:t>
            </a:r>
          </a:p>
          <a:p/>
          <a:p>
            <a:r>
              <a:t>"Two, trust funding. A trust only controls what's titled in it. Every time you open a new account, refinance, or buy a property, somebody has to ask: is this in the trust, or does it go around it?"</a:t>
            </a:r>
          </a:p>
          <a:p/>
          <a:p>
            <a:r>
              <a:t>"Three, special needs. If someone you love receives needs-based benefits, leaving them money outright can cause problems with those benefits. Attorneys have tools for this, like a special-needs trust. But the beneficiary forms and the accounts have to point to it. Otherwise the plan says one thing and the money does another."</a:t>
            </a:r>
          </a:p>
          <a:p/>
          <a:p>
            <a:r>
              <a:t>"Four, blended families. If you've remarried, 'everything to my spouse' can end up meaning your kids from a first marriage get nothing, if your spouse later changes their own plan. That's not a moral question. It's a drafting question and a beneficiary question, and it's one to raise with your attorney."</a:t>
            </a:r>
          </a:p>
          <a:p/>
          <a:p>
            <a:r>
              <a:t>"Workbook, page four. Put a check next to each of the four that applies to your family. Then circle the one you're least sure about."</a:t>
            </a:r>
          </a:p>
          <a:p/>
          <a:p>
            <a:r>
              <a:t>[Stay silent for twenty seconds.]</a:t>
            </a:r>
          </a:p>
          <a:p/>
          <a:p>
            <a:r>
              <a:t>"In the chat, type the number, one through four, of the one you circled."</a:t>
            </a:r>
          </a:p>
          <a:p/>
          <a:p>
            <a:r>
              <a:t>[Read a few back. Say which number comes up most.]</a:t>
            </a:r>
          </a:p>
          <a:p/>
          <a:p>
            <a:r>
              <a:t>Timing: about three minutes.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this goes wrong in real life. Hypothetical again, but I suspect you'll recognize it."</a:t>
            </a:r>
          </a:p>
          <a:p/>
          <a:p>
            <a:r>
              <a:t>"A couple does the right thing. They pay an attorney to draft a living trust. They sign it. They put the binder on the shelf. Done."</a:t>
            </a:r>
          </a:p>
          <a:p/>
          <a:p>
            <a:r>
              <a:t>"Meanwhile, their investment accounts are at a firm across town, still in their individual names. Their beneficiary forms name each other, and then the kids directly, which skips the trust entirely. Their CPA does their taxes every April and has never seen the trust. Three offices. Nobody talking."</a:t>
            </a:r>
          </a:p>
          <a:p/>
          <a:p>
            <a:r>
              <a:t>"Years later, she passes. The family opens the binder and finds a beautiful trust with almost nothing in it. The house is still in her name. So it goes to probate anyway. They did everything right, and it still went wrong."</a:t>
            </a:r>
          </a:p>
          <a:p/>
          <a:p>
            <a:r>
              <a:t>[PAUSE.]</a:t>
            </a:r>
          </a:p>
          <a:p/>
          <a:p>
            <a:r>
              <a:t>"Now compare that to the family I told you about at the start. Remember what we did? The rollovers and the documents got handled together, at the same time, in the same office. That's a big part of why, one year and one day later, his wife could carry on."</a:t>
            </a:r>
          </a:p>
          <a:p/>
          <a:p>
            <a:r>
              <a:t>"That's Big Idea Three. Somebody has to keep the pieces connected."</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go back to that family once more and break it down, because what they did, you can do."</a:t>
            </a:r>
          </a:p>
          <a:p/>
          <a:p>
            <a:r>
              <a:t>"The problem: a family with grown children who need ongoing care, retirement accounts in motion, and no documents at all."</a:t>
            </a:r>
          </a:p>
          <a:p/>
          <a:p>
            <a:r>
              <a:t>"The insight: if either parent died or couldn't decide, nobody had clear authority, and the kids' care was exposed."</a:t>
            </a:r>
          </a:p>
          <a:p/>
          <a:p>
            <a:r>
              <a:t>"The action: they didn't wait for a better time. They did the documents while we were already doing the accounts. Living trusts. Powers of attorney. The accounts and the documents handled together."</a:t>
            </a:r>
          </a:p>
          <a:p/>
          <a:p>
            <a:r>
              <a:t>"The result: one year and one day later, the worst thing happened. And she could carry on, with everything already in order."</a:t>
            </a:r>
          </a:p>
          <a:p/>
          <a:p>
            <a:r>
              <a:t>[Add nothing. No names, no dates, no health details beyond what is written here. The family's consent is still pending.]</a:t>
            </a:r>
          </a:p>
          <a:p/>
          <a:p>
            <a:r>
              <a:t>"Notice what's not in that story. No investment returns. No tax savings. Just a family that was ready when it counted."</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difference in one picture."</a:t>
            </a:r>
          </a:p>
          <a:p/>
          <a:p>
            <a:r>
              <a:t>[Read the left column, then the right, row by row.]</a:t>
            </a:r>
          </a:p>
          <a:p/>
          <a:p>
            <a:r>
              <a:t>"Most families sign a will and file it away. On the PATH, we line up the documents, the titles, and the beneficiaries so they all say the same thing."</a:t>
            </a:r>
          </a:p>
          <a:p/>
          <a:p>
            <a:r>
              <a:t>"Most families worry about an estate tax they'll probably never owe. We plan for the things that actually happen: incapacity, and time in court."</a:t>
            </a:r>
          </a:p>
          <a:p/>
          <a:p>
            <a:r>
              <a:t>"Most families have three offices that never talk. We put taxes, money, and the documents at one table. Three hundred sixty degrees. The attorney still drafts. We make sure it all connects."</a:t>
            </a:r>
          </a:p>
          <a:p/>
          <a:p>
            <a:r>
              <a:t>"Most families do it once. We walk the PATH every year."</a:t>
            </a:r>
          </a:p>
          <a:p/>
          <a:p>
            <a:r>
              <a:t>"And most families find out what the plan was at the funeral. We'd rather your family know it now, while you can explain it."</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trained in construction, so let me put this in builder's terms."</a:t>
            </a:r>
          </a:p>
          <a:p/>
          <a:p>
            <a:r>
              <a:t>"A trust with nothing in it is like a beautiful new house where nobody connected the plumbing. The drawings are perfect. The fixtures are gorgeous. You walk in, you turn on the faucet, and nothing happens."</a:t>
            </a:r>
          </a:p>
          <a:p/>
          <a:p>
            <a:r>
              <a:t>[PAUSE.]</a:t>
            </a:r>
          </a:p>
          <a:p/>
          <a:p>
            <a:r>
              <a:t>"The documents are the drawings. Titling and beneficiaries are the plumbing. You need both. And somebody has to walk through and check that the water actually runs."</a:t>
            </a:r>
          </a:p>
          <a:p/>
          <a:p>
            <a:r>
              <a:t>"When you go home tonight, that's your job. Turn on the faucets. Page two of your workbook is the walk-through."</a:t>
            </a:r>
          </a:p>
          <a:p/>
          <a:p>
            <a:r>
              <a:t>"In the chat, type one account or one document you're going to check this week. Just one. Writing it down makes it real."</a:t>
            </a:r>
          </a:p>
          <a:p/>
          <a:p>
            <a:r>
              <a:t>[Read three or four back by first name. 'Mary is checking her IRA beneficiary. Good.']</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answer the objection I hear most, before you raise it. 'Greg, we just don't have enough to need all this.'"</a:t>
            </a:r>
          </a:p>
          <a:p/>
          <a:p>
            <a:r>
              <a:t>"I get it. And on taxes, you're probably right. Colorado has no estate tax, and the federal exemption is fifteen million dollars. So this isn't about tax."</a:t>
            </a:r>
          </a:p>
          <a:p/>
          <a:p>
            <a:r>
              <a:t>"But remember the arithmetic. The small-estate shortcut is for estates under eighty-eight thousand dollars, and it's for personal property. If you own a home in Larimer County, you're almost certainly past it. And incapacity doesn't check your account balance before it shows up. A stroke at sixty-eight hits a family with half a million just as hard as a family with five million."</a:t>
            </a:r>
          </a:p>
          <a:p/>
          <a:p>
            <a:r>
              <a:t>"Honestly, the families with less have less room for a mess. A long, slow process hurts more when there's less cushion to carry the house while it waits."</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now? Why not next year?"</a:t>
            </a:r>
          </a:p>
          <a:p/>
          <a:p>
            <a:r>
              <a:t>"Here's the honest answer. These documents only work if you sign them while you're able to sign them. A power of attorney has to be signed by you. A beneficiary deed has to be recorded before death, not after. Nobody can do this for you on the worst day. The window is now, while life is calm."</a:t>
            </a:r>
          </a:p>
          <a:p/>
          <a:p>
            <a:r>
              <a:t>"And you're not alone in waiting. In a 2025 national survey by Caring.com, only twenty-four percent of American adults had a will. And the number one reason people gave for not having one? Forty-three percent said they just haven't gotten around to it."</a:t>
            </a:r>
          </a:p>
          <a:p/>
          <a:p>
            <a:r>
              <a:t>[PAUSE.]</a:t>
            </a:r>
          </a:p>
          <a:p/>
          <a:p>
            <a:r>
              <a:t>"Just haven't gotten around to it. That's what one year and one day is up against."</a:t>
            </a:r>
          </a:p>
          <a:p/>
          <a:p>
            <a:r>
              <a:t>"And if something has happened recently, a birthday, a retirement, a new grandchild, a move to Colorado with a will from another state, or losing a parent, that's your reminder. That's life putting this on your calendar."</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the three big ideas."</a:t>
            </a:r>
          </a:p>
          <a:p/>
          <a:p>
            <a:r>
              <a:t>"One. A will doesn't keep your family out of court. Beneficiary forms, beneficiary deeds, and a funded trust are the roads around it."</a:t>
            </a:r>
          </a:p>
          <a:p/>
          <a:p>
            <a:r>
              <a:t>"Two. The deadline isn't death. It's the day you can't decide. Durable powers of attorney and health care documents, signed while you can."</a:t>
            </a:r>
          </a:p>
          <a:p/>
          <a:p>
            <a:r>
              <a:t>"Three. A plan nobody maintains is a plan that fails. Beneficiaries, funding, special needs, blended families. Somebody has to keep the pieces connected."</a:t>
            </a:r>
          </a:p>
          <a:p/>
          <a:p>
            <a:r>
              <a:t>"In the chat: which one surprised you most? Type 1, 2, or 3."</a:t>
            </a:r>
          </a:p>
          <a:p/>
          <a:p>
            <a:r>
              <a:t>[Read the results. Comment on the most common answer.]</a:t>
            </a:r>
          </a:p>
          <a:p/>
          <a:p>
            <a:r>
              <a:t>"Now, workbook, page five. This is the Legacy Readiness Check. Ten yes-or-no questions. Take two minutes and answer them honestly. Then count your NO answers."</a:t>
            </a:r>
          </a:p>
          <a:p/>
          <a:p>
            <a:r>
              <a:t>[Stay silent for ninety seconds. Really. Let them work. It will feel long.]</a:t>
            </a:r>
          </a:p>
          <a:p/>
          <a:p>
            <a:r>
              <a:t>"Got your number? If you counted two or more NOs, you're in good company. You're also exactly who I built the PATH Review for."</a:t>
            </a:r>
          </a:p>
          <a:p/>
          <a:p>
            <a:r>
              <a:t>[BOOKING CALLOUT] "We walk through those NOs together, and you leave with a one-page PATH Map and your Legacy Document Checklist. The link is pinned in the chat. Now let me show you what I'd do next, if I were in your shoes."</a:t>
            </a:r>
          </a:p>
          <a:p/>
          <a:p>
            <a:r>
              <a:t>Timing: about four minutes, including the silent workbook time.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put those together, because each big idea leads somewhere."</a:t>
            </a:r>
          </a:p>
          <a:p/>
          <a:p>
            <a:r>
              <a:t>"A will alone sends your family to court, which means you need to know which road every asset is on."</a:t>
            </a:r>
          </a:p>
          <a:p/>
          <a:p>
            <a:r>
              <a:t>"The deadline is the day you can't decide, which means the powers of attorney get signed now, while you can."</a:t>
            </a:r>
          </a:p>
          <a:p/>
          <a:p>
            <a:r>
              <a:t>"Plans drift, which means somebody has to walk the PATH with you every year."</a:t>
            </a:r>
          </a:p>
          <a:p/>
          <a:p>
            <a:r>
              <a:t>"So, the three promises I made at the start. You now know what really happens in Colorado if you die or can't make decisions, and how to keep your family out of court. You know the overlooked pieces that undo good plans: beneficiaries, titles, and a trust with nothing in it. And you have a simple checklist, page five, to know exactly where your plan stands today."</a:t>
            </a:r>
          </a:p>
          <a:p/>
          <a:p>
            <a:r>
              <a:t>"Quick poll on your screen. Which PATH step feels most urgent for your family right now? Paycheck, Assets, Taxes, or Heirs?"</a:t>
            </a:r>
          </a:p>
          <a:p/>
          <a:p>
            <a:r>
              <a:t>[Launch the poll. Read the results out loud.]</a:t>
            </a:r>
          </a:p>
          <a:p/>
          <a:p>
            <a:r>
              <a:t>"Thank you. Now, I promised to hold nothing back, and I didn't. If you need to leave now, go with my thanks, and with a to-do list. For those who want to stay, I'll tell you how I can help."</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at a crossroads, and there are three paths."</a:t>
            </a:r>
          </a:p>
          <a:p/>
          <a:p>
            <a:r>
              <a:t>"Path one: do nothing. Close the laptop, feel a little guilty, and get to it someday. I'm not going to shame anybody. But you know what someday is up against."</a:t>
            </a:r>
          </a:p>
          <a:p/>
          <a:p>
            <a:r>
              <a:t>"Path two: do it yourself. Take your workbook, call an estate attorney, check every beneficiary form, retitle what needs retitling, and tell your family the plan. That's a real path. Plenty of people can do it. If that's you, please do it. Start with page five."</a:t>
            </a:r>
          </a:p>
          <a:p/>
          <a:p>
            <a:r>
              <a:t>"Path three: get help. Have someone who does this every week look at your taxes, your accounts, and your documents together, and coordinate with your attorney so nothing falls into the gaps."</a:t>
            </a:r>
          </a:p>
          <a:p/>
          <a:p>
            <a:r>
              <a:t>"Either of the last two is better than the first."</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choose path three, work with me, or someone like me. Here's what I mean by 'like me.'"</a:t>
            </a:r>
          </a:p>
          <a:p/>
          <a:p>
            <a:r>
              <a:t>"Find someone who looks at the tax return, the accounts, and the documents together. Someone who works alongside a licensed attorney instead of pretending to be one. And someone who will tell you plainly how they're paid."</a:t>
            </a:r>
          </a:p>
          <a:p/>
          <a:p>
            <a:r>
              <a:t>"So here's how it works, plainly: advisors are paid to fund trusts, never to sell or create them. The attorney drafts. My job is to make sure your money actually ends up where your documents say it should, and that your taxes and your income plan fit around it."</a:t>
            </a:r>
          </a:p>
          <a:p/>
          <a:p>
            <a:r>
              <a:t>"Early in my career I made a rule for myself. No one could put a logo on my business card. I wanted to be free to recommend what's right for the family in front of me. That's still how I work."</a:t>
            </a:r>
          </a:p>
          <a:p/>
          <a:p>
            <a:r>
              <a:t>"Here's the honest reason to get help. What you can't do alone is see the gaps you don't know are there."</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I can help. It's called the PATH Review."</a:t>
            </a:r>
          </a:p>
          <a:p/>
          <a:p>
            <a:r>
              <a:t>[Read the box slowly.]</a:t>
            </a:r>
          </a:p>
          <a:p/>
          <a:p>
            <a:r>
              <a:t>"It's sixty minutes, in my office here in Fort Collins or on Zoom, whichever is easier for you. We look at your whole PATH: Paycheck, Assets, Taxes, and Heirs. And because you came to this class, we'll spend real time on Heirs."</a:t>
            </a:r>
          </a:p>
          <a:p/>
          <a:p>
            <a:r>
              <a:t>"You walk out with two things. A one-page PATH Map that shows where you stand on all four steps, and your top gaps. And a Legacy Document Checklist: what you have, what's missing, and what to ask your attorney."</a:t>
            </a:r>
          </a:p>
          <a:p/>
          <a:p>
            <a:r>
              <a:t>"It's free. No cost, no obligation, and you keep the PATH Map and the checklist either way. I can't promise outcomes. Nobody honest can. What I can promise is that you'll know exactly where you stand."</a:t>
            </a:r>
          </a:p>
          <a:p/>
          <a:p>
            <a:r>
              <a:t>"And as a small extra, everyone who books gets the Family Legacy Organizer. It's a fill-in workbook for your accounts, your beneficiaries, and where everything is kept. It's the kind of thing your spouse will thank you for."</a:t>
            </a:r>
          </a:p>
          <a:p/>
          <a:p>
            <a:r>
              <a:t>[CONFIRM the Family Legacy Organizer is ready before offering it.]</a:t>
            </a:r>
          </a:p>
          <a:p/>
          <a:p>
            <a:r>
              <a:t>Timing: about two minutes.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happens in the hour."</a:t>
            </a:r>
          </a:p>
          <a:p/>
          <a:p>
            <a:r>
              <a:t>"First, your paycheck. What you need each year, and where it comes from."</a:t>
            </a:r>
          </a:p>
          <a:p/>
          <a:p>
            <a:r>
              <a:t>"Second, your assets. What a bad year early in retirement would do, and how your money is positioned for it."</a:t>
            </a:r>
          </a:p>
          <a:p/>
          <a:p>
            <a:r>
              <a:t>"Third, taxes. If you bring last year's tax return, we take a first look at it."</a:t>
            </a:r>
          </a:p>
          <a:p/>
          <a:p>
            <a:r>
              <a:t>"Fourth, heirs. Your documents, your beneficiaries, and how your accounts and your home are titled. I'm not going to interpret your will. That's your attorney's job. I'm going to check whether the pieces line up."</a:t>
            </a:r>
          </a:p>
          <a:p/>
          <a:p>
            <a:r>
              <a:t>"And at the end, you get your PATH Map and your top three gaps, in plain English. If it makes sense to keep going, we'll talk about a second meeting. If not, you leave with the map, and we shake hands."</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"Who's it for? Couples, or singles, roughly fifty-eight to seventy, with real retirement savings, usually three-quarters of a million dollars or more, and a home."</a:t>
            </a:r>
          </a:p>
          <a:p/>
          <a:p>
            <a:r>
              <a:t>[CONFIRM the asset floor with Greg before airing. The offer stack lists $750K as a placeholder.]</a:t>
            </a:r>
          </a:p>
          <a:p/>
          <a:p>
            <a:r>
              <a:t>"It's for people who want a clear recommendation. I give specific advice, not a menu. If you want someone to tell you what I'd do in your shoes, I'll tell you."</a:t>
            </a:r>
          </a:p>
          <a:p/>
          <a:p>
            <a:r>
              <a:t>"It's not for anyone looking for do-it-yourself legal forms, or a hot stock tip. And if you only want a second opinion so you can keep doing it all yourself, that's fine, but the workbook will serve you better than the meeting."</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steps are simple."</a:t>
            </a:r>
          </a:p>
          <a:p/>
          <a:p>
            <a:r>
              <a:t>"One, click the link and reserve your PATH Review. It takes about a minute."</a:t>
            </a:r>
          </a:p>
          <a:p/>
          <a:p>
            <a:r>
              <a:t>"Two, you'll get a short questionnaire. Just a few questions, so I don't waste your hour asking things I could have read ahead of time."</a:t>
            </a:r>
          </a:p>
          <a:p/>
          <a:p>
            <a:r>
              <a:t>"Three, bring last year's tax return, and a simple list of your documents and the year each one was signed. You already started that on page one of your workbook."</a:t>
            </a:r>
          </a:p>
          <a:p/>
          <a:p>
            <a:r>
              <a:t>"Four, show up. And please bring your spouse. If one of you handles everything, the other one especially needs to be in the room."</a:t>
            </a:r>
          </a:p>
          <a:p/>
          <a:p>
            <a:r>
              <a:t>"Workbook, page six. Write down the three questions you most want answered in your PATH Review. Do it now, while it's fresh."</a:t>
            </a:r>
          </a:p>
          <a:p/>
          <a:p>
            <a:r>
              <a:t>[Stay silent for thirty seconds.]</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out your phone and point the camera at this code. Or click the link pinned in the chat. The button says 'Reserve My PATH Review.'"</a:t>
            </a:r>
          </a:p>
          <a:p/>
          <a:p>
            <a:r>
              <a:t>[Stay quiet for fifteen seconds while people book. Watch the chat.]</a:t>
            </a:r>
          </a:p>
          <a:p/>
          <a:p>
            <a:r>
              <a:t>"Here's the honest part about timing. I only hold about eight PATH Reviews a month. That's what I can do well, and do personally. When they're full, new bookings roll to the next month. I'd rather tell you that than pretend otherwise."</a:t>
            </a:r>
          </a:p>
          <a:p/>
          <a:p>
            <a:r>
              <a:t>[CONFIRM the real monthly number with Greg before airing, and change 'eight' if needed. Scarcity must be true.]</a:t>
            </a:r>
          </a:p>
          <a:p/>
          <a:p>
            <a:r>
              <a:t>"If you book while we're together, I'll see your name come through, and I'll look forward to meeting you. Once you've grabbed a time, type BOOKED in the chat, so I know to watch for you."</a:t>
            </a:r>
          </a:p>
          <a:p/>
          <a:p>
            <a:r>
              <a:t>[Thank each BOOKED by first name. Don't make a show of it.]</a:t>
            </a:r>
          </a:p>
          <a:p/>
          <a:p>
            <a:r>
              <a:t>Timing: about ninety seconds.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tell you why I do this."</a:t>
            </a:r>
          </a:p>
          <a:p/>
          <a:p>
            <a:r>
              <a:t>"After all these years, the best part of my work isn't the spreadsheets, even though I do like a good spreadsheet. It's the moment a couple realizes they finally have a path to run on. Their income, their taxes, the long-term care question, and their family's plan, all covered. That relief is the best part of my job."</a:t>
            </a:r>
          </a:p>
          <a:p/>
          <a:p>
            <a:r>
              <a:t>"And then there's that family. One year and one day. On the worst day of her life, the money and the paperwork weren't one more thing she had to fight. That's the work. That's why I'm on this call with you."</a:t>
            </a:r>
          </a:p>
          <a:p/>
          <a:p>
            <a:r>
              <a:t>[GAP: the KB has no personal story for why Greg does estate work. Ask Greg for one. Until then, use only this.]</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more questions people ask me. First: 'Our kids are smart. They'll figure it out.'"</a:t>
            </a:r>
          </a:p>
          <a:p/>
          <a:p>
            <a:r>
              <a:t>"They are smart. And they'll be grieving. Smart, grieving people still need the legal authority to act, and they need to know where things are. Love doesn't sign a form at the bank."</a:t>
            </a:r>
          </a:p>
          <a:p/>
          <a:p>
            <a:r>
              <a:t>"The kindest thing you can leave your kids isn't a puzzle. It's instructions. Show them the plan while you can still explain it."</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'Greg, we already have a will. We even have a trust.'"</a:t>
            </a:r>
          </a:p>
          <a:p/>
          <a:p>
            <a:r>
              <a:t>"Good. That's a great start. You're ahead of most of the country. Now check it against the three big ideas. Does every asset have a road, or is the house still waiting on the will? Do you each have a signed durable power of attorney, and health care documents? And has anybody checked the beneficiaries and the trust funding since the last time life changed?"</a:t>
            </a:r>
          </a:p>
          <a:p/>
          <a:p>
            <a:r>
              <a:t>"If you can answer yes to all three, wonderful. Keep your workbook and walk the PATH every year. If you can't, that's what the PATH Review is for."</a:t>
            </a:r>
          </a:p>
          <a:p/>
          <a:p>
            <a:r>
              <a:t>Timing: about one minute.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to your questions. Type them in the chat, and I'll answer as many as I can."</a:t>
            </a:r>
          </a:p>
          <a:p/>
          <a:p>
            <a:r>
              <a:t>[Answer live questions first. If the chat is quiet, use the five seeded questions in foundation.md, in order. Keep each answer under a minute. Never interpret a specific person's document. Say: 'That's a great question for your attorney, and I'd be glad to look at how it lines up with your accounts in a PATH Review.']</a:t>
            </a:r>
          </a:p>
          <a:p/>
          <a:p>
            <a:r>
              <a:t>"While you're typing, let me repeat the one thing I most want you to remember. An estate plan isn't about how much you have, or what you'll owe. It's about who decides when you can't, and keeping your family out of court."</a:t>
            </a:r>
          </a:p>
          <a:p/>
          <a:p>
            <a:r>
              <a:t>[After the questions:]</a:t>
            </a:r>
          </a:p>
          <a:p/>
          <a:p>
            <a:r>
              <a:t>"Thank you for spending this hour with me. If you'd like to look at your own family's PATH, the link is right there on the screen and pinned in the chat: Reserve My PATH Review. I hold about eight a month, and I'd be glad to sit down with you."</a:t>
            </a:r>
          </a:p>
          <a:p/>
          <a:p>
            <a:r>
              <a:t>"And if you don't book, do page five this week anyway. Talk to your attorney. Check your beneficiaries. Show your spouse where everything is. Don't wait one year and one day. Take care of each other."</a:t>
            </a:r>
          </a:p>
          <a:p/>
          <a:p>
            <a:r>
              <a:t>Timing: about two minutes of script, plus open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12122"/>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59" y="822960"/>
            <a:ext cx="7498079" cy="3291840"/>
          </a:xfrm>
          <a:prstGeom prst="rect">
            <a:avLst/>
          </a:prstGeom>
          <a:noFill/>
        </p:spPr>
        <p:txBody>
          <a:bodyPr wrap="square" anchor="ctr" lIns="45720" rIns="45720">
            <a:spAutoFit/>
          </a:bodyPr>
          <a:lstStyle/>
          <a:p>
            <a:pPr algn="l"/>
            <a:r>
              <a:rPr sz="6000" b="1">
                <a:solidFill>
                  <a:srgbClr val="FFFFFF"/>
                </a:solidFill>
                <a:latin typeface="Playfair Display"/>
              </a:rPr>
              <a:t>Who Decides When You Can't?</a:t>
            </a:r>
          </a:p>
        </p:txBody>
      </p:sp>
      <p:sp>
        <p:nvSpPr>
          <p:cNvPr id="4" name="TextBox 3"/>
          <p:cNvSpPr txBox="1"/>
          <p:nvPr/>
        </p:nvSpPr>
        <p:spPr>
          <a:xfrm>
            <a:off x="822959" y="4206240"/>
            <a:ext cx="6858000" cy="822960"/>
          </a:xfrm>
          <a:prstGeom prst="rect">
            <a:avLst/>
          </a:prstGeom>
          <a:noFill/>
        </p:spPr>
        <p:txBody>
          <a:bodyPr wrap="square" anchor="t" lIns="45720" rIns="45720">
            <a:spAutoFit/>
          </a:bodyPr>
          <a:lstStyle/>
          <a:p>
            <a:pPr algn="l"/>
            <a:r>
              <a:rPr sz="2200" b="0">
                <a:solidFill>
                  <a:srgbClr val="C8963E"/>
                </a:solidFill>
                <a:latin typeface="Source Sans 3"/>
              </a:rPr>
              <a:t>A free class on keeping your spouse and kids out of court in Colorado</a:t>
            </a:r>
          </a:p>
        </p:txBody>
      </p:sp>
      <p:sp>
        <p:nvSpPr>
          <p:cNvPr id="5" name="TextBox 4"/>
          <p:cNvSpPr txBox="1"/>
          <p:nvPr/>
        </p:nvSpPr>
        <p:spPr>
          <a:xfrm>
            <a:off x="822959" y="5120640"/>
            <a:ext cx="5486400" cy="822960"/>
          </a:xfrm>
          <a:prstGeom prst="rect">
            <a:avLst/>
          </a:prstGeom>
          <a:noFill/>
        </p:spPr>
        <p:txBody>
          <a:bodyPr wrap="square" anchor="t" lIns="45720" rIns="45720">
            <a:spAutoFit/>
          </a:bodyPr>
          <a:lstStyle/>
          <a:p>
            <a:pPr algn="l"/>
            <a:r>
              <a:rPr sz="1600" b="0">
                <a:solidFill>
                  <a:srgbClr val="FFFFFF"/>
                </a:solidFill>
                <a:latin typeface="Source Sans 3"/>
              </a:rPr>
              <a:t>Greg W. Anderson, RICP</a:t>
            </a:r>
          </a:p>
          <a:p>
            <a:pPr algn="l"/>
            <a:r>
              <a:rPr sz="1600" b="0">
                <a:solidFill>
                  <a:srgbClr val="FFFFFF"/>
                </a:solidFill>
                <a:latin typeface="Source Sans 3"/>
              </a:rPr>
              <a:t>Balanced Financial, Inc. · Fort Collins, Colorado</a:t>
            </a:r>
          </a:p>
        </p:txBody>
      </p:sp>
      <p:pic>
        <p:nvPicPr>
          <p:cNvPr id="6" name="Picture 5" descr="headshot-1.jpg"/>
          <p:cNvPicPr>
            <a:picLocks noChangeAspect="1"/>
          </p:cNvPicPr>
          <p:nvPr/>
        </p:nvPicPr>
        <p:blipFill>
          <a:blip r:embed="rId2"/>
          <a:stretch>
            <a:fillRect/>
          </a:stretch>
        </p:blipFill>
        <p:spPr>
          <a:xfrm>
            <a:off x="8595360" y="822960"/>
            <a:ext cx="1959429" cy="2743200"/>
          </a:xfrm>
          <a:prstGeom prst="rect">
            <a:avLst/>
          </a:prstGeom>
        </p:spPr>
      </p:pic>
      <p:sp>
        <p:nvSpPr>
          <p:cNvPr id="7" name="TextBox 6"/>
          <p:cNvSpPr txBox="1"/>
          <p:nvPr/>
        </p:nvSpPr>
        <p:spPr>
          <a:xfrm>
            <a:off x="822959" y="6309360"/>
            <a:ext cx="5486400" cy="411480"/>
          </a:xfrm>
          <a:prstGeom prst="rect">
            <a:avLst/>
          </a:prstGeom>
          <a:noFill/>
        </p:spPr>
        <p:txBody>
          <a:bodyPr wrap="square" anchor="t" lIns="45720" rIns="45720">
            <a:spAutoFit/>
          </a:bodyPr>
          <a:lstStyle/>
          <a:p>
            <a:pPr algn="l"/>
            <a:r>
              <a:rPr sz="1200" b="0">
                <a:solidFill>
                  <a:srgbClr val="CCCCCC"/>
                </a:solidFill>
                <a:latin typeface="Source Sans 3"/>
              </a:rPr>
              <a:t>Educational only. Not legal, tax, or investment advice. Estate documents are prepared by a licensed attorney. Insurance or investment products may be discussed in a private meeting. [PLACEHOLDER: Greg's required RIA and insurance disclosure, pending his approver.]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You're in the Right Place If...</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An old will, or none at all</a:t>
            </a:r>
          </a:p>
          <a:p>
            <a:pPr algn="l">
              <a:spcAft>
                <a:spcPts val="1320"/>
              </a:spcAft>
            </a:pPr>
            <a:r>
              <a:rPr sz="2200" b="0">
                <a:solidFill>
                  <a:srgbClr val="444546"/>
                </a:solidFill>
                <a:latin typeface="Source Sans 3"/>
              </a:rPr>
              <a:t>•  You've meant to get to it for years</a:t>
            </a:r>
          </a:p>
          <a:p>
            <a:pPr algn="l">
              <a:spcAft>
                <a:spcPts val="1320"/>
              </a:spcAft>
            </a:pPr>
            <a:r>
              <a:rPr sz="2200" b="0">
                <a:solidFill>
                  <a:srgbClr val="444546"/>
                </a:solidFill>
                <a:latin typeface="Source Sans 3"/>
              </a:rPr>
              <a:t>•  A trust you're not sure is set up right</a:t>
            </a:r>
          </a:p>
          <a:p>
            <a:pPr algn="l">
              <a:spcAft>
                <a:spcPts val="1320"/>
              </a:spcAft>
            </a:pPr>
            <a:r>
              <a:rPr sz="2200" b="0">
                <a:solidFill>
                  <a:srgbClr val="444546"/>
                </a:solidFill>
                <a:latin typeface="Source Sans 3"/>
              </a:rPr>
              <a:t>•  Family needing extra care, or blended</a:t>
            </a:r>
          </a:p>
          <a:p>
            <a:pPr algn="l">
              <a:spcAft>
                <a:spcPts val="1320"/>
              </a:spcAft>
            </a:pPr>
            <a:r>
              <a:rPr sz="2200" b="0">
                <a:solidFill>
                  <a:srgbClr val="444546"/>
                </a:solidFill>
                <a:latin typeface="Source Sans 3"/>
              </a:rPr>
              <a:t>•  Not for: DIY legal forms or stock tips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Before We Start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About 60 minutes, questions at the end</a:t>
            </a:r>
          </a:p>
          <a:p>
            <a:pPr algn="l">
              <a:spcAft>
                <a:spcPts val="1320"/>
              </a:spcAft>
            </a:pPr>
            <a:r>
              <a:rPr sz="2200" b="0">
                <a:solidFill>
                  <a:srgbClr val="444546"/>
                </a:solidFill>
                <a:latin typeface="Source Sans 3"/>
              </a:rPr>
              <a:t>•  Use the chat; I read it</a:t>
            </a:r>
          </a:p>
          <a:p>
            <a:pPr algn="l">
              <a:spcAft>
                <a:spcPts val="1320"/>
              </a:spcAft>
            </a:pPr>
            <a:r>
              <a:rPr sz="2200" b="0">
                <a:solidFill>
                  <a:srgbClr val="444546"/>
                </a:solidFill>
                <a:latin typeface="Source Sans 3"/>
              </a:rPr>
              <a:t>•  Have your workbook open</a:t>
            </a:r>
          </a:p>
          <a:p>
            <a:pPr algn="l">
              <a:spcAft>
                <a:spcPts val="1320"/>
              </a:spcAft>
            </a:pPr>
            <a:r>
              <a:rPr sz="2200" b="0">
                <a:solidFill>
                  <a:srgbClr val="444546"/>
                </a:solidFill>
                <a:latin typeface="Source Sans 3"/>
              </a:rPr>
              <a:t>•  Education only: not legal or tax advice</a:t>
            </a:r>
          </a:p>
          <a:p>
            <a:pPr algn="l">
              <a:spcAft>
                <a:spcPts val="1320"/>
              </a:spcAft>
            </a:pPr>
            <a:r>
              <a:rPr sz="2200" b="0">
                <a:solidFill>
                  <a:srgbClr val="444546"/>
                </a:solidFill>
                <a:latin typeface="Source Sans 3"/>
              </a:rPr>
              <a:t>•  At the end: the PATH Review</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One year and one day.</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true story, with details changed</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Then, with no warning.</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It's not about what you'll owe. It's about who decides.</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Who I Am, and Who I'm Not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RICP: Retirement Income Certified Professional</a:t>
            </a:r>
          </a:p>
          <a:p>
            <a:pPr algn="l">
              <a:spcAft>
                <a:spcPts val="1320"/>
              </a:spcAft>
            </a:pPr>
            <a:r>
              <a:rPr sz="2200" b="0">
                <a:solidFill>
                  <a:srgbClr val="444546"/>
                </a:solidFill>
                <a:latin typeface="Source Sans 3"/>
              </a:rPr>
              <a:t>•  One roof: tax practice, investment firm, Balanced Financial</a:t>
            </a:r>
          </a:p>
          <a:p>
            <a:pPr algn="l">
              <a:spcAft>
                <a:spcPts val="1320"/>
              </a:spcAft>
            </a:pPr>
            <a:r>
              <a:rPr sz="2200" b="0">
                <a:solidFill>
                  <a:srgbClr val="444546"/>
                </a:solidFill>
                <a:latin typeface="Source Sans 3"/>
              </a:rPr>
              <a:t>•  Social Security teacher, speaker, radio</a:t>
            </a:r>
          </a:p>
          <a:p>
            <a:pPr algn="l">
              <a:spcAft>
                <a:spcPts val="1320"/>
              </a:spcAft>
            </a:pPr>
            <a:r>
              <a:rPr sz="2200" b="0">
                <a:solidFill>
                  <a:srgbClr val="444546"/>
                </a:solidFill>
                <a:latin typeface="Source Sans 3"/>
              </a:rPr>
              <a:t>•  Not an attorney: a licensed attorney drafts documents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Three Promises for This Hour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1280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128016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1. What really happens</a:t>
            </a:r>
          </a:p>
        </p:txBody>
      </p:sp>
      <p:sp>
        <p:nvSpPr>
          <p:cNvPr id="7" name="TextBox 6"/>
          <p:cNvSpPr txBox="1"/>
          <p:nvPr/>
        </p:nvSpPr>
        <p:spPr>
          <a:xfrm>
            <a:off x="914400" y="2514600"/>
            <a:ext cx="5166359" cy="777240"/>
          </a:xfrm>
          <a:prstGeom prst="rect">
            <a:avLst/>
          </a:prstGeom>
          <a:noFill/>
        </p:spPr>
        <p:txBody>
          <a:bodyPr wrap="square" anchor="t" lIns="45720" rIns="45720">
            <a:spAutoFit/>
          </a:bodyPr>
          <a:lstStyle/>
          <a:p>
            <a:pPr algn="l"/>
            <a:r>
              <a:rPr sz="1600" b="0">
                <a:solidFill>
                  <a:srgbClr val="444546"/>
                </a:solidFill>
                <a:latin typeface="Source Sans 3"/>
              </a:rPr>
              <a:t>What really happens in Colorado if you die or can't make decisions, and how to keep your family out of court</a:t>
            </a:r>
          </a:p>
        </p:txBody>
      </p:sp>
      <p:sp>
        <p:nvSpPr>
          <p:cNvPr id="8" name="Rectangle 7"/>
          <p:cNvSpPr/>
          <p:nvPr/>
        </p:nvSpPr>
        <p:spPr>
          <a:xfrm>
            <a:off x="640080" y="3474720"/>
            <a:ext cx="5577840" cy="1280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474720"/>
            <a:ext cx="82296" cy="128016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547872"/>
            <a:ext cx="5166359" cy="411480"/>
          </a:xfrm>
          <a:prstGeom prst="rect">
            <a:avLst/>
          </a:prstGeom>
          <a:noFill/>
        </p:spPr>
        <p:txBody>
          <a:bodyPr wrap="square" anchor="t" lIns="45720" rIns="45720">
            <a:spAutoFit/>
          </a:bodyPr>
          <a:lstStyle/>
          <a:p>
            <a:pPr algn="l"/>
            <a:r>
              <a:rPr sz="2000" b="1">
                <a:solidFill>
                  <a:srgbClr val="212122"/>
                </a:solidFill>
                <a:latin typeface="Source Sans 3"/>
              </a:rPr>
              <a:t>2. 2. The overlooked pieces</a:t>
            </a:r>
          </a:p>
        </p:txBody>
      </p:sp>
      <p:sp>
        <p:nvSpPr>
          <p:cNvPr id="11" name="TextBox 10"/>
          <p:cNvSpPr txBox="1"/>
          <p:nvPr/>
        </p:nvSpPr>
        <p:spPr>
          <a:xfrm>
            <a:off x="914400" y="3931920"/>
            <a:ext cx="5166359" cy="777240"/>
          </a:xfrm>
          <a:prstGeom prst="rect">
            <a:avLst/>
          </a:prstGeom>
          <a:noFill/>
        </p:spPr>
        <p:txBody>
          <a:bodyPr wrap="square" anchor="t" lIns="45720" rIns="45720">
            <a:spAutoFit/>
          </a:bodyPr>
          <a:lstStyle/>
          <a:p>
            <a:pPr algn="l"/>
            <a:r>
              <a:rPr sz="1600" b="0">
                <a:solidFill>
                  <a:srgbClr val="444546"/>
                </a:solidFill>
                <a:latin typeface="Source Sans 3"/>
              </a:rPr>
              <a:t>The overlooked pieces that undo good plans: beneficiaries, titles, and a trust with nothing in it</a:t>
            </a:r>
          </a:p>
        </p:txBody>
      </p:sp>
      <p:sp>
        <p:nvSpPr>
          <p:cNvPr id="12" name="Rectangle 11"/>
          <p:cNvSpPr/>
          <p:nvPr/>
        </p:nvSpPr>
        <p:spPr>
          <a:xfrm>
            <a:off x="640080" y="4892040"/>
            <a:ext cx="5577840" cy="1280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892040"/>
            <a:ext cx="82296" cy="128016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965192"/>
            <a:ext cx="5166359" cy="411480"/>
          </a:xfrm>
          <a:prstGeom prst="rect">
            <a:avLst/>
          </a:prstGeom>
          <a:noFill/>
        </p:spPr>
        <p:txBody>
          <a:bodyPr wrap="square" anchor="t" lIns="45720" rIns="45720">
            <a:spAutoFit/>
          </a:bodyPr>
          <a:lstStyle/>
          <a:p>
            <a:pPr algn="l"/>
            <a:r>
              <a:rPr sz="2000" b="1">
                <a:solidFill>
                  <a:srgbClr val="212122"/>
                </a:solidFill>
                <a:latin typeface="Source Sans 3"/>
              </a:rPr>
              <a:t>3. 3. A simple checklist</a:t>
            </a:r>
          </a:p>
        </p:txBody>
      </p:sp>
      <p:sp>
        <p:nvSpPr>
          <p:cNvPr id="15" name="TextBox 14"/>
          <p:cNvSpPr txBox="1"/>
          <p:nvPr/>
        </p:nvSpPr>
        <p:spPr>
          <a:xfrm>
            <a:off x="914400" y="5349240"/>
            <a:ext cx="5166359" cy="777240"/>
          </a:xfrm>
          <a:prstGeom prst="rect">
            <a:avLst/>
          </a:prstGeom>
          <a:noFill/>
        </p:spPr>
        <p:txBody>
          <a:bodyPr wrap="square" anchor="t" lIns="45720" rIns="45720">
            <a:spAutoFit/>
          </a:bodyPr>
          <a:lstStyle/>
          <a:p>
            <a:pPr algn="l"/>
            <a:r>
              <a:rPr sz="1600" b="0">
                <a:solidFill>
                  <a:srgbClr val="444546"/>
                </a:solidFill>
                <a:latin typeface="Source Sans 3"/>
              </a:rPr>
              <a:t>A simple checklist to know exactly where your plan stands today</a:t>
            </a:r>
          </a:p>
        </p:txBody>
      </p:sp>
      <p:sp>
        <p:nvSpPr>
          <p:cNvPr id="16" name="TextBox 15"/>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Does This Sound Familiar?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'We really need to do our wills'</a:t>
            </a:r>
          </a:p>
          <a:p>
            <a:pPr algn="l">
              <a:spcAft>
                <a:spcPts val="1320"/>
              </a:spcAft>
            </a:pPr>
            <a:r>
              <a:rPr sz="2200" b="0">
                <a:solidFill>
                  <a:srgbClr val="444546"/>
                </a:solidFill>
                <a:latin typeface="Source Sans 3"/>
              </a:rPr>
              <a:t>•  Signed before you moved here, or before the kids grew up</a:t>
            </a:r>
          </a:p>
          <a:p>
            <a:pPr algn="l">
              <a:spcAft>
                <a:spcPts val="1320"/>
              </a:spcAft>
            </a:pPr>
            <a:r>
              <a:rPr sz="2200" b="0">
                <a:solidFill>
                  <a:srgbClr val="444546"/>
                </a:solidFill>
                <a:latin typeface="Source Sans 3"/>
              </a:rPr>
              <a:t>•  Not sure who your beneficiaries are</a:t>
            </a:r>
          </a:p>
          <a:p>
            <a:pPr algn="l">
              <a:spcAft>
                <a:spcPts val="1320"/>
              </a:spcAft>
            </a:pPr>
            <a:r>
              <a:rPr sz="2200" b="0">
                <a:solidFill>
                  <a:srgbClr val="444546"/>
                </a:solidFill>
                <a:latin typeface="Source Sans 3"/>
              </a:rPr>
              <a:t>•  A trust you've never checked</a:t>
            </a:r>
          </a:p>
          <a:p>
            <a:pPr algn="l">
              <a:spcAft>
                <a:spcPts val="1320"/>
              </a:spcAft>
            </a:pPr>
            <a:r>
              <a:rPr sz="2200" b="0">
                <a:solidFill>
                  <a:srgbClr val="444546"/>
                </a:solidFill>
                <a:latin typeface="Source Sans 3"/>
              </a:rPr>
              <a:t>•  You handle everything; your spouse doesn't know where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"We're not rich, and we have a will. We're fine."</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Two Plus Two: The Colorado Math</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103120"/>
            <a:ext cx="5577840" cy="868680"/>
          </a:xfrm>
          <a:prstGeom prst="rect">
            <a:avLst/>
          </a:prstGeom>
          <a:noFill/>
        </p:spPr>
        <p:txBody>
          <a:bodyPr wrap="square" anchor="t" lIns="45720" rIns="45720">
            <a:spAutoFit/>
          </a:bodyPr>
          <a:lstStyle/>
          <a:p>
            <a:pPr algn="l"/>
            <a:r>
              <a:rPr sz="5400" b="1">
                <a:solidFill>
                  <a:srgbClr val="4B4C4D"/>
                </a:solidFill>
                <a:latin typeface="Playfair Display"/>
              </a:rPr>
              <a:t>$0</a:t>
            </a:r>
          </a:p>
        </p:txBody>
      </p:sp>
      <p:sp>
        <p:nvSpPr>
          <p:cNvPr id="5" name="TextBox 4"/>
          <p:cNvSpPr txBox="1"/>
          <p:nvPr/>
        </p:nvSpPr>
        <p:spPr>
          <a:xfrm>
            <a:off x="640080" y="2944368"/>
            <a:ext cx="5577840" cy="457200"/>
          </a:xfrm>
          <a:prstGeom prst="rect">
            <a:avLst/>
          </a:prstGeom>
          <a:noFill/>
        </p:spPr>
        <p:txBody>
          <a:bodyPr wrap="square" anchor="t" lIns="45720" rIns="45720">
            <a:spAutoFit/>
          </a:bodyPr>
          <a:lstStyle/>
          <a:p>
            <a:pPr algn="l"/>
            <a:r>
              <a:rPr sz="1600" b="0">
                <a:solidFill>
                  <a:srgbClr val="444546"/>
                </a:solidFill>
                <a:latin typeface="Source Sans 3"/>
              </a:rPr>
              <a:t>Colorado estate or inheritance tax</a:t>
            </a:r>
          </a:p>
        </p:txBody>
      </p:sp>
      <p:sp>
        <p:nvSpPr>
          <p:cNvPr id="6" name="TextBox 5"/>
          <p:cNvSpPr txBox="1"/>
          <p:nvPr/>
        </p:nvSpPr>
        <p:spPr>
          <a:xfrm>
            <a:off x="640080" y="3520439"/>
            <a:ext cx="5577840" cy="868680"/>
          </a:xfrm>
          <a:prstGeom prst="rect">
            <a:avLst/>
          </a:prstGeom>
          <a:noFill/>
        </p:spPr>
        <p:txBody>
          <a:bodyPr wrap="square" anchor="t" lIns="45720" rIns="45720">
            <a:spAutoFit/>
          </a:bodyPr>
          <a:lstStyle/>
          <a:p>
            <a:pPr algn="l"/>
            <a:r>
              <a:rPr sz="5400" b="1">
                <a:solidFill>
                  <a:srgbClr val="4B4C4D"/>
                </a:solidFill>
                <a:latin typeface="Playfair Display"/>
              </a:rPr>
              <a:t>$15M</a:t>
            </a:r>
          </a:p>
        </p:txBody>
      </p:sp>
      <p:sp>
        <p:nvSpPr>
          <p:cNvPr id="7" name="TextBox 6"/>
          <p:cNvSpPr txBox="1"/>
          <p:nvPr/>
        </p:nvSpPr>
        <p:spPr>
          <a:xfrm>
            <a:off x="640080" y="4361688"/>
            <a:ext cx="5577840" cy="457200"/>
          </a:xfrm>
          <a:prstGeom prst="rect">
            <a:avLst/>
          </a:prstGeom>
          <a:noFill/>
        </p:spPr>
        <p:txBody>
          <a:bodyPr wrap="square" anchor="t" lIns="45720" rIns="45720">
            <a:spAutoFit/>
          </a:bodyPr>
          <a:lstStyle/>
          <a:p>
            <a:pPr algn="l"/>
            <a:r>
              <a:rPr sz="1600" b="0">
                <a:solidFill>
                  <a:srgbClr val="444546"/>
                </a:solidFill>
                <a:latin typeface="Source Sans 3"/>
              </a:rPr>
              <a:t>Federal estate tax exemption per person, 2026</a:t>
            </a:r>
          </a:p>
        </p:txBody>
      </p:sp>
      <p:sp>
        <p:nvSpPr>
          <p:cNvPr id="8" name="TextBox 7"/>
          <p:cNvSpPr txBox="1"/>
          <p:nvPr/>
        </p:nvSpPr>
        <p:spPr>
          <a:xfrm>
            <a:off x="640080" y="4937759"/>
            <a:ext cx="5577840" cy="868680"/>
          </a:xfrm>
          <a:prstGeom prst="rect">
            <a:avLst/>
          </a:prstGeom>
          <a:noFill/>
        </p:spPr>
        <p:txBody>
          <a:bodyPr wrap="square" anchor="t" lIns="45720" rIns="45720">
            <a:spAutoFit/>
          </a:bodyPr>
          <a:lstStyle/>
          <a:p>
            <a:pPr algn="l"/>
            <a:r>
              <a:rPr sz="5400" b="1">
                <a:solidFill>
                  <a:srgbClr val="4B4C4D"/>
                </a:solidFill>
                <a:latin typeface="Playfair Display"/>
              </a:rPr>
              <a:t>$88K</a:t>
            </a:r>
          </a:p>
        </p:txBody>
      </p:sp>
      <p:sp>
        <p:nvSpPr>
          <p:cNvPr id="9" name="TextBox 8"/>
          <p:cNvSpPr txBox="1"/>
          <p:nvPr/>
        </p:nvSpPr>
        <p:spPr>
          <a:xfrm>
            <a:off x="640080" y="5779007"/>
            <a:ext cx="5577840" cy="457200"/>
          </a:xfrm>
          <a:prstGeom prst="rect">
            <a:avLst/>
          </a:prstGeom>
          <a:noFill/>
        </p:spPr>
        <p:txBody>
          <a:bodyPr wrap="square" anchor="t" lIns="45720" rIns="45720">
            <a:spAutoFit/>
          </a:bodyPr>
          <a:lstStyle/>
          <a:p>
            <a:pPr algn="l"/>
            <a:r>
              <a:rPr sz="1600" b="0">
                <a:solidFill>
                  <a:srgbClr val="444546"/>
                </a:solidFill>
                <a:latin typeface="Source Sans 3"/>
              </a:rPr>
              <a:t>Colorado small-estate limit, 2026. Median Larimer home: $610K</a:t>
            </a:r>
          </a:p>
        </p:txBody>
      </p:sp>
      <p:sp>
        <p:nvSpPr>
          <p:cNvPr id="10" name="TextBox 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The other timeline.</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what if they had waited?</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"What if I'm the one who handles everything?"</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It's Not Your Fault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'Get a will' gets sold as the whole job</a:t>
            </a:r>
          </a:p>
          <a:p>
            <a:pPr algn="l">
              <a:spcAft>
                <a:spcPts val="1320"/>
              </a:spcAft>
            </a:pPr>
            <a:r>
              <a:rPr sz="2200" b="0">
                <a:solidFill>
                  <a:srgbClr val="444546"/>
                </a:solidFill>
                <a:latin typeface="Source Sans 3"/>
              </a:rPr>
              <a:t>•  Taxes, money, documents: three offices</a:t>
            </a:r>
          </a:p>
          <a:p>
            <a:pPr algn="l">
              <a:spcAft>
                <a:spcPts val="1320"/>
              </a:spcAft>
            </a:pPr>
            <a:r>
              <a:rPr sz="2200" b="0">
                <a:solidFill>
                  <a:srgbClr val="444546"/>
                </a:solidFill>
                <a:latin typeface="Source Sans 3"/>
              </a:rPr>
              <a:t>•  Nobody connects the pieces</a:t>
            </a:r>
          </a:p>
          <a:p>
            <a:pPr algn="l">
              <a:spcAft>
                <a:spcPts val="1320"/>
              </a:spcAft>
            </a:pPr>
            <a:r>
              <a:rPr sz="2200" b="0">
                <a:solidFill>
                  <a:srgbClr val="444546"/>
                </a:solidFill>
                <a:latin typeface="Source Sans 3"/>
              </a:rPr>
              <a:t>•  The failures hide in the gaps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From Here to There</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From 'we'll get to it' to done this season</a:t>
            </a:r>
          </a:p>
          <a:p>
            <a:pPr algn="l">
              <a:spcAft>
                <a:spcPts val="1320"/>
              </a:spcAft>
            </a:pPr>
            <a:r>
              <a:rPr sz="2200" b="0">
                <a:solidFill>
                  <a:srgbClr val="444546"/>
                </a:solidFill>
                <a:latin typeface="Source Sans 3"/>
              </a:rPr>
              <a:t>•  From guessing to knowing what passes how</a:t>
            </a:r>
          </a:p>
          <a:p>
            <a:pPr algn="l">
              <a:spcAft>
                <a:spcPts val="1320"/>
              </a:spcAft>
            </a:pPr>
            <a:r>
              <a:rPr sz="2200" b="0">
                <a:solidFill>
                  <a:srgbClr val="444546"/>
                </a:solidFill>
                <a:latin typeface="Source Sans 3"/>
              </a:rPr>
              <a:t>•  From a court deciding to you deciding</a:t>
            </a:r>
          </a:p>
          <a:p>
            <a:pPr algn="l">
              <a:spcAft>
                <a:spcPts val="1320"/>
              </a:spcAft>
            </a:pPr>
            <a:r>
              <a:rPr sz="2200" b="0">
                <a:solidFill>
                  <a:srgbClr val="444546"/>
                </a:solidFill>
                <a:latin typeface="Source Sans 3"/>
              </a:rPr>
              <a:t>•  From 'the kids will figure it out' to a family that knows the plan</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A plan isn't about how much you have. It's about who decides.</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Rules change. Plans have to be ready.</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How I came to this work</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The PATH Plan</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004021" y="2478024"/>
            <a:ext cx="8183651" cy="73152"/>
          </a:xfrm>
          <a:prstGeom prst="rect">
            <a:avLst/>
          </a:prstGeom>
          <a:solidFill>
            <a:srgbClr val="ED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19973" y="2130552"/>
            <a:ext cx="768096" cy="768096"/>
          </a:xfrm>
          <a:prstGeom prst="ellipse">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Playfair Display"/>
              </a:rPr>
              <a:t>1</a:t>
            </a:r>
          </a:p>
        </p:txBody>
      </p:sp>
      <p:sp>
        <p:nvSpPr>
          <p:cNvPr id="6" name="TextBox 5"/>
          <p:cNvSpPr txBox="1"/>
          <p:nvPr/>
        </p:nvSpPr>
        <p:spPr>
          <a:xfrm>
            <a:off x="685800"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Paycheck</a:t>
            </a:r>
          </a:p>
        </p:txBody>
      </p:sp>
      <p:sp>
        <p:nvSpPr>
          <p:cNvPr id="7" name="Oval 6"/>
          <p:cNvSpPr/>
          <p:nvPr/>
        </p:nvSpPr>
        <p:spPr>
          <a:xfrm>
            <a:off x="4347857" y="2130552"/>
            <a:ext cx="768096" cy="768096"/>
          </a:xfrm>
          <a:prstGeom prst="ellipse">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Playfair Display"/>
              </a:rPr>
              <a:t>2</a:t>
            </a:r>
          </a:p>
        </p:txBody>
      </p:sp>
      <p:sp>
        <p:nvSpPr>
          <p:cNvPr id="8" name="TextBox 7"/>
          <p:cNvSpPr txBox="1"/>
          <p:nvPr/>
        </p:nvSpPr>
        <p:spPr>
          <a:xfrm>
            <a:off x="3413683"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Assets</a:t>
            </a:r>
          </a:p>
        </p:txBody>
      </p:sp>
      <p:sp>
        <p:nvSpPr>
          <p:cNvPr id="9" name="Oval 8"/>
          <p:cNvSpPr/>
          <p:nvPr/>
        </p:nvSpPr>
        <p:spPr>
          <a:xfrm>
            <a:off x="7075741" y="2130552"/>
            <a:ext cx="768096" cy="768096"/>
          </a:xfrm>
          <a:prstGeom prst="ellipse">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FFFFFF"/>
                </a:solidFill>
                <a:latin typeface="Playfair Display"/>
              </a:rPr>
              <a:t>3</a:t>
            </a:r>
          </a:p>
        </p:txBody>
      </p:sp>
      <p:sp>
        <p:nvSpPr>
          <p:cNvPr id="10" name="TextBox 9"/>
          <p:cNvSpPr txBox="1"/>
          <p:nvPr/>
        </p:nvSpPr>
        <p:spPr>
          <a:xfrm>
            <a:off x="6141567"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Taxes</a:t>
            </a:r>
          </a:p>
        </p:txBody>
      </p:sp>
      <p:sp>
        <p:nvSpPr>
          <p:cNvPr id="11" name="Oval 10"/>
          <p:cNvSpPr/>
          <p:nvPr/>
        </p:nvSpPr>
        <p:spPr>
          <a:xfrm>
            <a:off x="9803625" y="2130552"/>
            <a:ext cx="768096" cy="768096"/>
          </a:xfrm>
          <a:prstGeom prst="ellipse">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200" b="1">
                <a:solidFill>
                  <a:srgbClr val="212122"/>
                </a:solidFill>
                <a:latin typeface="Playfair Display"/>
              </a:rPr>
              <a:t>4</a:t>
            </a:r>
          </a:p>
        </p:txBody>
      </p:sp>
      <p:sp>
        <p:nvSpPr>
          <p:cNvPr id="12" name="TextBox 11"/>
          <p:cNvSpPr txBox="1"/>
          <p:nvPr/>
        </p:nvSpPr>
        <p:spPr>
          <a:xfrm>
            <a:off x="8869451" y="3017520"/>
            <a:ext cx="2636443" cy="731520"/>
          </a:xfrm>
          <a:prstGeom prst="rect">
            <a:avLst/>
          </a:prstGeom>
          <a:noFill/>
        </p:spPr>
        <p:txBody>
          <a:bodyPr wrap="square" anchor="t" lIns="45720" rIns="45720">
            <a:spAutoFit/>
          </a:bodyPr>
          <a:lstStyle/>
          <a:p>
            <a:pPr algn="ctr"/>
            <a:r>
              <a:rPr sz="1800" b="1">
                <a:solidFill>
                  <a:srgbClr val="212122"/>
                </a:solidFill>
                <a:latin typeface="Source Sans 3"/>
              </a:rPr>
              <a:t>Heirs</a:t>
            </a:r>
          </a:p>
        </p:txBody>
      </p:sp>
      <p:sp>
        <p:nvSpPr>
          <p:cNvPr id="13" name="TextBox 12"/>
          <p:cNvSpPr txBox="1"/>
          <p:nvPr/>
        </p:nvSpPr>
        <p:spPr>
          <a:xfrm>
            <a:off x="640080" y="3840480"/>
            <a:ext cx="5577840" cy="2286000"/>
          </a:xfrm>
          <a:prstGeom prst="rect">
            <a:avLst/>
          </a:prstGeom>
          <a:noFill/>
        </p:spPr>
        <p:txBody>
          <a:bodyPr wrap="square" anchor="t" lIns="45720" rIns="45720">
            <a:spAutoFit/>
          </a:bodyPr>
          <a:lstStyle/>
          <a:p>
            <a:pPr algn="l">
              <a:spcAft>
                <a:spcPts val="1080"/>
              </a:spcAft>
            </a:pPr>
            <a:r>
              <a:rPr sz="1800" b="0">
                <a:solidFill>
                  <a:srgbClr val="444546"/>
                </a:solidFill>
                <a:latin typeface="Source Sans 3"/>
              </a:rPr>
              <a:t>•  Paycheck, Assets, Taxes, Heirs</a:t>
            </a:r>
          </a:p>
          <a:p>
            <a:pPr algn="l">
              <a:spcAft>
                <a:spcPts val="1080"/>
              </a:spcAft>
            </a:pPr>
            <a:r>
              <a:rPr sz="1800" b="0">
                <a:solidFill>
                  <a:srgbClr val="444546"/>
                </a:solidFill>
                <a:latin typeface="Source Sans 3"/>
              </a:rPr>
              <a:t>•  Walk the PATH every year</a:t>
            </a:r>
          </a:p>
          <a:p>
            <a:pPr algn="l">
              <a:spcAft>
                <a:spcPts val="1080"/>
              </a:spcAft>
            </a:pPr>
            <a:r>
              <a:rPr sz="1800" b="0">
                <a:solidFill>
                  <a:srgbClr val="444546"/>
                </a:solidFill>
                <a:latin typeface="Source Sans 3"/>
              </a:rPr>
              <a:t>•  Today: H, for Heirs</a:t>
            </a:r>
          </a:p>
        </p:txBody>
      </p:sp>
      <p:sp>
        <p:nvSpPr>
          <p:cNvPr id="14" name="TextBox 1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Big Idea 1: A will doesn't keep your family out of court.</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Four Roads Your Assets Can Take</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The will</a:t>
            </a:r>
          </a:p>
        </p:txBody>
      </p:sp>
      <p:sp>
        <p:nvSpPr>
          <p:cNvPr id="7" name="TextBox 6"/>
          <p:cNvSpPr txBox="1"/>
          <p:nvPr/>
        </p:nvSpPr>
        <p:spPr>
          <a:xfrm>
            <a:off x="914400" y="2514600"/>
            <a:ext cx="5166359" cy="422909"/>
          </a:xfrm>
          <a:prstGeom prst="rect">
            <a:avLst/>
          </a:prstGeom>
          <a:noFill/>
        </p:spPr>
        <p:txBody>
          <a:bodyPr wrap="square" anchor="t" lIns="45720" rIns="45720">
            <a:spAutoFit/>
          </a:bodyPr>
          <a:lstStyle/>
          <a:p>
            <a:pPr algn="l"/>
            <a:r>
              <a:rPr sz="1600" b="0">
                <a:solidFill>
                  <a:srgbClr val="444546"/>
                </a:solidFill>
                <a:latin typeface="Source Sans 3"/>
              </a:rPr>
              <a:t>Goes through probate court; filed within 10 days</a:t>
            </a:r>
          </a:p>
        </p:txBody>
      </p:sp>
      <p:sp>
        <p:nvSpPr>
          <p:cNvPr id="8" name="Rectangle 7"/>
          <p:cNvSpPr/>
          <p:nvPr/>
        </p:nvSpPr>
        <p:spPr>
          <a:xfrm>
            <a:off x="640080" y="312038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2038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93541"/>
            <a:ext cx="5166359" cy="411480"/>
          </a:xfrm>
          <a:prstGeom prst="rect">
            <a:avLst/>
          </a:prstGeom>
          <a:noFill/>
        </p:spPr>
        <p:txBody>
          <a:bodyPr wrap="square" anchor="t" lIns="45720" rIns="45720">
            <a:spAutoFit/>
          </a:bodyPr>
          <a:lstStyle/>
          <a:p>
            <a:pPr algn="l"/>
            <a:r>
              <a:rPr sz="2000" b="1">
                <a:solidFill>
                  <a:srgbClr val="212122"/>
                </a:solidFill>
                <a:latin typeface="Source Sans 3"/>
              </a:rPr>
              <a:t>2. Beneficiary forms</a:t>
            </a:r>
          </a:p>
        </p:txBody>
      </p:sp>
      <p:sp>
        <p:nvSpPr>
          <p:cNvPr id="11" name="TextBox 10"/>
          <p:cNvSpPr txBox="1"/>
          <p:nvPr/>
        </p:nvSpPr>
        <p:spPr>
          <a:xfrm>
            <a:off x="914400" y="3577589"/>
            <a:ext cx="5166359" cy="422909"/>
          </a:xfrm>
          <a:prstGeom prst="rect">
            <a:avLst/>
          </a:prstGeom>
          <a:noFill/>
        </p:spPr>
        <p:txBody>
          <a:bodyPr wrap="square" anchor="t" lIns="45720" rIns="45720">
            <a:spAutoFit/>
          </a:bodyPr>
          <a:lstStyle/>
          <a:p>
            <a:pPr algn="l"/>
            <a:r>
              <a:rPr sz="1600" b="0">
                <a:solidFill>
                  <a:srgbClr val="444546"/>
                </a:solidFill>
                <a:latin typeface="Source Sans 3"/>
              </a:rPr>
              <a:t>IRAs, 401(k)s, life insurance go to who's named</a:t>
            </a:r>
          </a:p>
        </p:txBody>
      </p:sp>
      <p:sp>
        <p:nvSpPr>
          <p:cNvPr id="12" name="Rectangle 11"/>
          <p:cNvSpPr/>
          <p:nvPr/>
        </p:nvSpPr>
        <p:spPr>
          <a:xfrm>
            <a:off x="640080" y="418337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8337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56531"/>
            <a:ext cx="5166359" cy="411480"/>
          </a:xfrm>
          <a:prstGeom prst="rect">
            <a:avLst/>
          </a:prstGeom>
          <a:noFill/>
        </p:spPr>
        <p:txBody>
          <a:bodyPr wrap="square" anchor="t" lIns="45720" rIns="45720">
            <a:spAutoFit/>
          </a:bodyPr>
          <a:lstStyle/>
          <a:p>
            <a:pPr algn="l"/>
            <a:r>
              <a:rPr sz="2000" b="1">
                <a:solidFill>
                  <a:srgbClr val="212122"/>
                </a:solidFill>
                <a:latin typeface="Source Sans 3"/>
              </a:rPr>
              <a:t>3. Beneficiary deed</a:t>
            </a:r>
          </a:p>
        </p:txBody>
      </p:sp>
      <p:sp>
        <p:nvSpPr>
          <p:cNvPr id="15" name="TextBox 14"/>
          <p:cNvSpPr txBox="1"/>
          <p:nvPr/>
        </p:nvSpPr>
        <p:spPr>
          <a:xfrm>
            <a:off x="914400" y="4640579"/>
            <a:ext cx="5166359" cy="422909"/>
          </a:xfrm>
          <a:prstGeom prst="rect">
            <a:avLst/>
          </a:prstGeom>
          <a:noFill/>
        </p:spPr>
        <p:txBody>
          <a:bodyPr wrap="square" anchor="t" lIns="45720" rIns="45720">
            <a:spAutoFit/>
          </a:bodyPr>
          <a:lstStyle/>
          <a:p>
            <a:pPr algn="l"/>
            <a:r>
              <a:rPr sz="1600" b="0">
                <a:solidFill>
                  <a:srgbClr val="444546"/>
                </a:solidFill>
                <a:latin typeface="Source Sans 3"/>
              </a:rPr>
              <a:t>Your home passes at death; recorded now</a:t>
            </a:r>
          </a:p>
        </p:txBody>
      </p:sp>
      <p:sp>
        <p:nvSpPr>
          <p:cNvPr id="16" name="Rectangle 15"/>
          <p:cNvSpPr/>
          <p:nvPr/>
        </p:nvSpPr>
        <p:spPr>
          <a:xfrm>
            <a:off x="640080" y="524636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4636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19521"/>
            <a:ext cx="5166359" cy="411480"/>
          </a:xfrm>
          <a:prstGeom prst="rect">
            <a:avLst/>
          </a:prstGeom>
          <a:noFill/>
        </p:spPr>
        <p:txBody>
          <a:bodyPr wrap="square" anchor="t" lIns="45720" rIns="45720">
            <a:spAutoFit/>
          </a:bodyPr>
          <a:lstStyle/>
          <a:p>
            <a:pPr algn="l"/>
            <a:r>
              <a:rPr sz="2000" b="1">
                <a:solidFill>
                  <a:srgbClr val="212122"/>
                </a:solidFill>
                <a:latin typeface="Source Sans 3"/>
              </a:rPr>
              <a:t>4. A funded trust</a:t>
            </a:r>
          </a:p>
        </p:txBody>
      </p:sp>
      <p:sp>
        <p:nvSpPr>
          <p:cNvPr id="19" name="TextBox 18"/>
          <p:cNvSpPr txBox="1"/>
          <p:nvPr/>
        </p:nvSpPr>
        <p:spPr>
          <a:xfrm>
            <a:off x="914400" y="5703569"/>
            <a:ext cx="5166359" cy="422909"/>
          </a:xfrm>
          <a:prstGeom prst="rect">
            <a:avLst/>
          </a:prstGeom>
          <a:noFill/>
        </p:spPr>
        <p:txBody>
          <a:bodyPr wrap="square" anchor="t" lIns="45720" rIns="45720">
            <a:spAutoFit/>
          </a:bodyPr>
          <a:lstStyle/>
          <a:p>
            <a:pPr algn="l"/>
            <a:r>
              <a:rPr sz="1600" b="0">
                <a:solidFill>
                  <a:srgbClr val="444546"/>
                </a:solidFill>
                <a:latin typeface="Source Sans 3"/>
              </a:rPr>
              <a:t>Controls only what's titled in it</a:t>
            </a:r>
          </a:p>
        </p:txBody>
      </p:sp>
      <p:sp>
        <p:nvSpPr>
          <p:cNvPr id="20" name="TextBox 1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The fast lane is six months.</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 not a real client</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Big Idea 2: The deadline isn't death. It's the day you can't decide.</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Who Decides If You Can't?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Financial POA</a:t>
            </a:r>
          </a:p>
        </p:txBody>
      </p:sp>
      <p:sp>
        <p:nvSpPr>
          <p:cNvPr id="7" name="TextBox 6"/>
          <p:cNvSpPr txBox="1"/>
          <p:nvPr/>
        </p:nvSpPr>
        <p:spPr>
          <a:xfrm>
            <a:off x="914400" y="2514600"/>
            <a:ext cx="5166359" cy="422909"/>
          </a:xfrm>
          <a:prstGeom prst="rect">
            <a:avLst/>
          </a:prstGeom>
          <a:noFill/>
        </p:spPr>
        <p:txBody>
          <a:bodyPr wrap="square" anchor="t" lIns="45720" rIns="45720">
            <a:spAutoFit/>
          </a:bodyPr>
          <a:lstStyle/>
          <a:p>
            <a:pPr algn="l"/>
            <a:r>
              <a:rPr sz="1600" b="0">
                <a:solidFill>
                  <a:srgbClr val="444546"/>
                </a:solidFill>
                <a:latin typeface="Source Sans 3"/>
              </a:rPr>
              <a:t>Names who can handle money and accounts for you</a:t>
            </a:r>
          </a:p>
        </p:txBody>
      </p:sp>
      <p:sp>
        <p:nvSpPr>
          <p:cNvPr id="8" name="Rectangle 7"/>
          <p:cNvSpPr/>
          <p:nvPr/>
        </p:nvSpPr>
        <p:spPr>
          <a:xfrm>
            <a:off x="640080" y="312038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2038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93541"/>
            <a:ext cx="5166359" cy="411480"/>
          </a:xfrm>
          <a:prstGeom prst="rect">
            <a:avLst/>
          </a:prstGeom>
          <a:noFill/>
        </p:spPr>
        <p:txBody>
          <a:bodyPr wrap="square" anchor="t" lIns="45720" rIns="45720">
            <a:spAutoFit/>
          </a:bodyPr>
          <a:lstStyle/>
          <a:p>
            <a:pPr algn="l"/>
            <a:r>
              <a:rPr sz="2000" b="1">
                <a:solidFill>
                  <a:srgbClr val="212122"/>
                </a:solidFill>
                <a:latin typeface="Source Sans 3"/>
              </a:rPr>
              <a:t>2. Health care documents</a:t>
            </a:r>
          </a:p>
        </p:txBody>
      </p:sp>
      <p:sp>
        <p:nvSpPr>
          <p:cNvPr id="11" name="TextBox 10"/>
          <p:cNvSpPr txBox="1"/>
          <p:nvPr/>
        </p:nvSpPr>
        <p:spPr>
          <a:xfrm>
            <a:off x="914400" y="3577589"/>
            <a:ext cx="5166359" cy="422909"/>
          </a:xfrm>
          <a:prstGeom prst="rect">
            <a:avLst/>
          </a:prstGeom>
          <a:noFill/>
        </p:spPr>
        <p:txBody>
          <a:bodyPr wrap="square" anchor="t" lIns="45720" rIns="45720">
            <a:spAutoFit/>
          </a:bodyPr>
          <a:lstStyle/>
          <a:p>
            <a:pPr algn="l"/>
            <a:r>
              <a:rPr sz="1600" b="0">
                <a:solidFill>
                  <a:srgbClr val="444546"/>
                </a:solidFill>
                <a:latin typeface="Source Sans 3"/>
              </a:rPr>
              <a:t>Name who speaks for you with doctors</a:t>
            </a:r>
          </a:p>
        </p:txBody>
      </p:sp>
      <p:sp>
        <p:nvSpPr>
          <p:cNvPr id="12" name="Rectangle 11"/>
          <p:cNvSpPr/>
          <p:nvPr/>
        </p:nvSpPr>
        <p:spPr>
          <a:xfrm>
            <a:off x="640080" y="418337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8337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56531"/>
            <a:ext cx="5166359" cy="411480"/>
          </a:xfrm>
          <a:prstGeom prst="rect">
            <a:avLst/>
          </a:prstGeom>
          <a:noFill/>
        </p:spPr>
        <p:txBody>
          <a:bodyPr wrap="square" anchor="t" lIns="45720" rIns="45720">
            <a:spAutoFit/>
          </a:bodyPr>
          <a:lstStyle/>
          <a:p>
            <a:pPr algn="l"/>
            <a:r>
              <a:rPr sz="2000" b="1">
                <a:solidFill>
                  <a:srgbClr val="212122"/>
                </a:solidFill>
                <a:latin typeface="Source Sans 3"/>
              </a:rPr>
              <a:t>3. Durable by default</a:t>
            </a:r>
          </a:p>
        </p:txBody>
      </p:sp>
      <p:sp>
        <p:nvSpPr>
          <p:cNvPr id="15" name="TextBox 14"/>
          <p:cNvSpPr txBox="1"/>
          <p:nvPr/>
        </p:nvSpPr>
        <p:spPr>
          <a:xfrm>
            <a:off x="914400" y="4640579"/>
            <a:ext cx="5166359" cy="422909"/>
          </a:xfrm>
          <a:prstGeom prst="rect">
            <a:avLst/>
          </a:prstGeom>
          <a:noFill/>
        </p:spPr>
        <p:txBody>
          <a:bodyPr wrap="square" anchor="t" lIns="45720" rIns="45720">
            <a:spAutoFit/>
          </a:bodyPr>
          <a:lstStyle/>
          <a:p>
            <a:pPr algn="l"/>
            <a:r>
              <a:rPr sz="1600" b="0">
                <a:solidFill>
                  <a:srgbClr val="444546"/>
                </a:solidFill>
                <a:latin typeface="Source Sans 3"/>
              </a:rPr>
              <a:t>Colorado POAs since 2010 keep working if you can't</a:t>
            </a:r>
          </a:p>
        </p:txBody>
      </p:sp>
      <p:sp>
        <p:nvSpPr>
          <p:cNvPr id="16" name="Rectangle 15"/>
          <p:cNvSpPr/>
          <p:nvPr/>
        </p:nvSpPr>
        <p:spPr>
          <a:xfrm>
            <a:off x="640080" y="524636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4636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19521"/>
            <a:ext cx="5166359" cy="411480"/>
          </a:xfrm>
          <a:prstGeom prst="rect">
            <a:avLst/>
          </a:prstGeom>
          <a:noFill/>
        </p:spPr>
        <p:txBody>
          <a:bodyPr wrap="square" anchor="t" lIns="45720" rIns="45720">
            <a:spAutoFit/>
          </a:bodyPr>
          <a:lstStyle/>
          <a:p>
            <a:pPr algn="l"/>
            <a:r>
              <a:rPr sz="2000" b="1">
                <a:solidFill>
                  <a:srgbClr val="212122"/>
                </a:solidFill>
                <a:latin typeface="Source Sans 3"/>
              </a:rPr>
              <a:t>4. Without them</a:t>
            </a:r>
          </a:p>
        </p:txBody>
      </p:sp>
      <p:sp>
        <p:nvSpPr>
          <p:cNvPr id="19" name="TextBox 18"/>
          <p:cNvSpPr txBox="1"/>
          <p:nvPr/>
        </p:nvSpPr>
        <p:spPr>
          <a:xfrm>
            <a:off x="914400" y="5703569"/>
            <a:ext cx="5166359" cy="422909"/>
          </a:xfrm>
          <a:prstGeom prst="rect">
            <a:avLst/>
          </a:prstGeom>
          <a:noFill/>
        </p:spPr>
        <p:txBody>
          <a:bodyPr wrap="square" anchor="t" lIns="45720" rIns="45720">
            <a:spAutoFit/>
          </a:bodyPr>
          <a:lstStyle/>
          <a:p>
            <a:pPr algn="l"/>
            <a:r>
              <a:rPr sz="1600" b="0">
                <a:solidFill>
                  <a:srgbClr val="444546"/>
                </a:solidFill>
                <a:latin typeface="Source Sans 3"/>
              </a:rPr>
              <a:t>Your family may have to ask a court</a:t>
            </a:r>
          </a:p>
        </p:txBody>
      </p:sp>
      <p:sp>
        <p:nvSpPr>
          <p:cNvPr id="20" name="TextBox 1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The one who handles everything.</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 not a real client</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Big Idea 3: A plan nobody maintains is a plan that fails.</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Four Things That Drift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57400"/>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2057400"/>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30552"/>
            <a:ext cx="5166359" cy="411480"/>
          </a:xfrm>
          <a:prstGeom prst="rect">
            <a:avLst/>
          </a:prstGeom>
          <a:noFill/>
        </p:spPr>
        <p:txBody>
          <a:bodyPr wrap="square" anchor="t" lIns="45720" rIns="45720">
            <a:spAutoFit/>
          </a:bodyPr>
          <a:lstStyle/>
          <a:p>
            <a:pPr algn="l"/>
            <a:r>
              <a:rPr sz="2000" b="1">
                <a:solidFill>
                  <a:srgbClr val="212122"/>
                </a:solidFill>
                <a:latin typeface="Source Sans 3"/>
              </a:rPr>
              <a:t>1. Beneficiaries</a:t>
            </a:r>
          </a:p>
        </p:txBody>
      </p:sp>
      <p:sp>
        <p:nvSpPr>
          <p:cNvPr id="7" name="TextBox 6"/>
          <p:cNvSpPr txBox="1"/>
          <p:nvPr/>
        </p:nvSpPr>
        <p:spPr>
          <a:xfrm>
            <a:off x="914400" y="2514600"/>
            <a:ext cx="5166359" cy="422909"/>
          </a:xfrm>
          <a:prstGeom prst="rect">
            <a:avLst/>
          </a:prstGeom>
          <a:noFill/>
        </p:spPr>
        <p:txBody>
          <a:bodyPr wrap="square" anchor="t" lIns="45720" rIns="45720">
            <a:spAutoFit/>
          </a:bodyPr>
          <a:lstStyle/>
          <a:p>
            <a:pPr algn="l"/>
            <a:r>
              <a:rPr sz="1600" b="0">
                <a:solidFill>
                  <a:srgbClr val="444546"/>
                </a:solidFill>
                <a:latin typeface="Source Sans 3"/>
              </a:rPr>
              <a:t>Check every form after every life event</a:t>
            </a:r>
          </a:p>
        </p:txBody>
      </p:sp>
      <p:sp>
        <p:nvSpPr>
          <p:cNvPr id="8" name="Rectangle 7"/>
          <p:cNvSpPr/>
          <p:nvPr/>
        </p:nvSpPr>
        <p:spPr>
          <a:xfrm>
            <a:off x="640080" y="312038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 y="312038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193541"/>
            <a:ext cx="5166359" cy="411480"/>
          </a:xfrm>
          <a:prstGeom prst="rect">
            <a:avLst/>
          </a:prstGeom>
          <a:noFill/>
        </p:spPr>
        <p:txBody>
          <a:bodyPr wrap="square" anchor="t" lIns="45720" rIns="45720">
            <a:spAutoFit/>
          </a:bodyPr>
          <a:lstStyle/>
          <a:p>
            <a:pPr algn="l"/>
            <a:r>
              <a:rPr sz="2000" b="1">
                <a:solidFill>
                  <a:srgbClr val="212122"/>
                </a:solidFill>
                <a:latin typeface="Source Sans 3"/>
              </a:rPr>
              <a:t>2. Trust funding</a:t>
            </a:r>
          </a:p>
        </p:txBody>
      </p:sp>
      <p:sp>
        <p:nvSpPr>
          <p:cNvPr id="11" name="TextBox 10"/>
          <p:cNvSpPr txBox="1"/>
          <p:nvPr/>
        </p:nvSpPr>
        <p:spPr>
          <a:xfrm>
            <a:off x="914400" y="3577589"/>
            <a:ext cx="5166359" cy="422909"/>
          </a:xfrm>
          <a:prstGeom prst="rect">
            <a:avLst/>
          </a:prstGeom>
          <a:noFill/>
        </p:spPr>
        <p:txBody>
          <a:bodyPr wrap="square" anchor="t" lIns="45720" rIns="45720">
            <a:spAutoFit/>
          </a:bodyPr>
          <a:lstStyle/>
          <a:p>
            <a:pPr algn="l"/>
            <a:r>
              <a:rPr sz="1600" b="0">
                <a:solidFill>
                  <a:srgbClr val="444546"/>
                </a:solidFill>
                <a:latin typeface="Source Sans 3"/>
              </a:rPr>
              <a:t>Retitle accounts and the house, or the trust sits empty</a:t>
            </a:r>
          </a:p>
        </p:txBody>
      </p:sp>
      <p:sp>
        <p:nvSpPr>
          <p:cNvPr id="12" name="Rectangle 11"/>
          <p:cNvSpPr/>
          <p:nvPr/>
        </p:nvSpPr>
        <p:spPr>
          <a:xfrm>
            <a:off x="640080" y="418337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18337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256531"/>
            <a:ext cx="5166359" cy="411480"/>
          </a:xfrm>
          <a:prstGeom prst="rect">
            <a:avLst/>
          </a:prstGeom>
          <a:noFill/>
        </p:spPr>
        <p:txBody>
          <a:bodyPr wrap="square" anchor="t" lIns="45720" rIns="45720">
            <a:spAutoFit/>
          </a:bodyPr>
          <a:lstStyle/>
          <a:p>
            <a:pPr algn="l"/>
            <a:r>
              <a:rPr sz="2000" b="1">
                <a:solidFill>
                  <a:srgbClr val="212122"/>
                </a:solidFill>
                <a:latin typeface="Source Sans 3"/>
              </a:rPr>
              <a:t>3. Special needs</a:t>
            </a:r>
          </a:p>
        </p:txBody>
      </p:sp>
      <p:sp>
        <p:nvSpPr>
          <p:cNvPr id="15" name="TextBox 14"/>
          <p:cNvSpPr txBox="1"/>
          <p:nvPr/>
        </p:nvSpPr>
        <p:spPr>
          <a:xfrm>
            <a:off x="914400" y="4640579"/>
            <a:ext cx="5166359" cy="422909"/>
          </a:xfrm>
          <a:prstGeom prst="rect">
            <a:avLst/>
          </a:prstGeom>
          <a:noFill/>
        </p:spPr>
        <p:txBody>
          <a:bodyPr wrap="square" anchor="t" lIns="45720" rIns="45720">
            <a:spAutoFit/>
          </a:bodyPr>
          <a:lstStyle/>
          <a:p>
            <a:pPr algn="l"/>
            <a:r>
              <a:rPr sz="1600" b="0">
                <a:solidFill>
                  <a:srgbClr val="444546"/>
                </a:solidFill>
                <a:latin typeface="Source Sans 3"/>
              </a:rPr>
              <a:t>An outright inheritance can upset needs-based benefits</a:t>
            </a:r>
          </a:p>
        </p:txBody>
      </p:sp>
      <p:sp>
        <p:nvSpPr>
          <p:cNvPr id="16" name="Rectangle 15"/>
          <p:cNvSpPr/>
          <p:nvPr/>
        </p:nvSpPr>
        <p:spPr>
          <a:xfrm>
            <a:off x="640080" y="5246369"/>
            <a:ext cx="5577840" cy="92583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5246369"/>
            <a:ext cx="82296" cy="92583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5319521"/>
            <a:ext cx="5166359" cy="411480"/>
          </a:xfrm>
          <a:prstGeom prst="rect">
            <a:avLst/>
          </a:prstGeom>
          <a:noFill/>
        </p:spPr>
        <p:txBody>
          <a:bodyPr wrap="square" anchor="t" lIns="45720" rIns="45720">
            <a:spAutoFit/>
          </a:bodyPr>
          <a:lstStyle/>
          <a:p>
            <a:pPr algn="l"/>
            <a:r>
              <a:rPr sz="2000" b="1">
                <a:solidFill>
                  <a:srgbClr val="212122"/>
                </a:solidFill>
                <a:latin typeface="Source Sans 3"/>
              </a:rPr>
              <a:t>4. Blended families</a:t>
            </a:r>
          </a:p>
        </p:txBody>
      </p:sp>
      <p:sp>
        <p:nvSpPr>
          <p:cNvPr id="19" name="TextBox 18"/>
          <p:cNvSpPr txBox="1"/>
          <p:nvPr/>
        </p:nvSpPr>
        <p:spPr>
          <a:xfrm>
            <a:off x="914400" y="5703569"/>
            <a:ext cx="5166359" cy="422909"/>
          </a:xfrm>
          <a:prstGeom prst="rect">
            <a:avLst/>
          </a:prstGeom>
          <a:noFill/>
        </p:spPr>
        <p:txBody>
          <a:bodyPr wrap="square" anchor="t" lIns="45720" rIns="45720">
            <a:spAutoFit/>
          </a:bodyPr>
          <a:lstStyle/>
          <a:p>
            <a:pPr algn="l"/>
            <a:r>
              <a:rPr sz="1600" b="0">
                <a:solidFill>
                  <a:srgbClr val="444546"/>
                </a:solidFill>
                <a:latin typeface="Source Sans 3"/>
              </a:rPr>
              <a:t>'Everything to my spouse' can leave out your kids</a:t>
            </a:r>
          </a:p>
        </p:txBody>
      </p:sp>
      <p:sp>
        <p:nvSpPr>
          <p:cNvPr id="20" name="TextBox 19"/>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Three offices, one empty trust.</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A hypothetical illustration, not a real client</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Problem. Insight. Action. Result.</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3657600"/>
            <a:ext cx="5577840" cy="1463040"/>
          </a:xfrm>
          <a:prstGeom prst="rect">
            <a:avLst/>
          </a:prstGeom>
          <a:noFill/>
        </p:spPr>
        <p:txBody>
          <a:bodyPr wrap="square" anchor="t" lIns="45720" rIns="45720">
            <a:spAutoFit/>
          </a:bodyPr>
          <a:lstStyle/>
          <a:p>
            <a:pPr algn="l"/>
            <a:r>
              <a:rPr sz="2200" b="0">
                <a:solidFill>
                  <a:srgbClr val="FFFFFF"/>
                </a:solidFill>
                <a:latin typeface="Source Sans 3"/>
              </a:rPr>
              <a:t>The one-year-and-one-day family, step by step</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Most Families vs. the PATH</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2057400"/>
          <a:ext cx="5852159" cy="4389120"/>
        </p:xfrm>
        <a:graphic>
          <a:graphicData uri="http://schemas.openxmlformats.org/drawingml/2006/table">
            <a:tbl>
              <a:tblPr firstRow="1" bandRow="1">
                <a:tableStyleId>{5C22544A-7EE6-4342-B048-85BDC9FD1C3A}</a:tableStyleId>
              </a:tblPr>
              <a:tblGrid>
                <a:gridCol w="2926079"/>
                <a:gridCol w="2926080"/>
              </a:tblGrid>
              <a:tr h="731520">
                <a:tc>
                  <a:txBody>
                    <a:bodyPr/>
                    <a:lstStyle/>
                    <a:p>
                      <a:r>
                        <a:rPr sz="1800" b="1">
                          <a:solidFill>
                            <a:srgbClr val="FFFFFF"/>
                          </a:solidFill>
                          <a:latin typeface="Source Sans 3"/>
                        </a:rPr>
                        <a:t>Most families</a:t>
                      </a:r>
                    </a:p>
                  </a:txBody>
                  <a:tcPr>
                    <a:solidFill>
                      <a:srgbClr val="444546"/>
                    </a:solidFill>
                  </a:tcPr>
                </a:tc>
                <a:tc>
                  <a:txBody>
                    <a:bodyPr/>
                    <a:lstStyle/>
                    <a:p>
                      <a:r>
                        <a:rPr sz="1800" b="1">
                          <a:solidFill>
                            <a:srgbClr val="FFFFFF"/>
                          </a:solidFill>
                          <a:latin typeface="Source Sans 3"/>
                        </a:rPr>
                        <a:t>The PATH way</a:t>
                      </a:r>
                    </a:p>
                  </a:txBody>
                  <a:tcPr>
                    <a:solidFill>
                      <a:srgbClr val="4B4C4D"/>
                    </a:solidFill>
                  </a:tcPr>
                </a:tc>
              </a:tr>
              <a:tr h="731520">
                <a:tc>
                  <a:txBody>
                    <a:bodyPr/>
                    <a:lstStyle/>
                    <a:p>
                      <a:r>
                        <a:rPr sz="1600">
                          <a:solidFill>
                            <a:srgbClr val="212122"/>
                          </a:solidFill>
                          <a:latin typeface="Source Sans 3"/>
                        </a:rPr>
                        <a:t>Sign a will, file it away</a:t>
                      </a:r>
                    </a:p>
                  </a:txBody>
                  <a:tcPr>
                    <a:solidFill>
                      <a:srgbClr val="FFFFFF"/>
                    </a:solidFill>
                  </a:tcPr>
                </a:tc>
                <a:tc>
                  <a:txBody>
                    <a:bodyPr/>
                    <a:lstStyle/>
                    <a:p>
                      <a:r>
                        <a:rPr sz="1600">
                          <a:solidFill>
                            <a:srgbClr val="212122"/>
                          </a:solidFill>
                          <a:latin typeface="Source Sans 3"/>
                        </a:rPr>
                        <a:t>Line up documents, titles, beneficiaries</a:t>
                      </a:r>
                    </a:p>
                  </a:txBody>
                  <a:tcPr>
                    <a:solidFill>
                      <a:srgbClr val="FFFFFF"/>
                    </a:solidFill>
                  </a:tcPr>
                </a:tc>
              </a:tr>
              <a:tr h="731520">
                <a:tc>
                  <a:txBody>
                    <a:bodyPr/>
                    <a:lstStyle/>
                    <a:p>
                      <a:r>
                        <a:rPr sz="1600">
                          <a:solidFill>
                            <a:srgbClr val="212122"/>
                          </a:solidFill>
                          <a:latin typeface="Source Sans 3"/>
                        </a:rPr>
                        <a:t>Worry about estate tax</a:t>
                      </a:r>
                    </a:p>
                  </a:txBody>
                  <a:tcPr>
                    <a:solidFill>
                      <a:srgbClr val="EDEDED"/>
                    </a:solidFill>
                  </a:tcPr>
                </a:tc>
                <a:tc>
                  <a:txBody>
                    <a:bodyPr/>
                    <a:lstStyle/>
                    <a:p>
                      <a:r>
                        <a:rPr sz="1600">
                          <a:solidFill>
                            <a:srgbClr val="212122"/>
                          </a:solidFill>
                          <a:latin typeface="Source Sans 3"/>
                        </a:rPr>
                        <a:t>Plan for incapacity and court time</a:t>
                      </a:r>
                    </a:p>
                  </a:txBody>
                  <a:tcPr>
                    <a:solidFill>
                      <a:srgbClr val="EDEDED"/>
                    </a:solidFill>
                  </a:tcPr>
                </a:tc>
              </a:tr>
              <a:tr h="731520">
                <a:tc>
                  <a:txBody>
                    <a:bodyPr/>
                    <a:lstStyle/>
                    <a:p>
                      <a:r>
                        <a:rPr sz="1600">
                          <a:solidFill>
                            <a:srgbClr val="212122"/>
                          </a:solidFill>
                          <a:latin typeface="Source Sans 3"/>
                        </a:rPr>
                        <a:t>Three offices that never talk</a:t>
                      </a:r>
                    </a:p>
                  </a:txBody>
                  <a:tcPr>
                    <a:solidFill>
                      <a:srgbClr val="FFFFFF"/>
                    </a:solidFill>
                  </a:tcPr>
                </a:tc>
                <a:tc>
                  <a:txBody>
                    <a:bodyPr/>
                    <a:lstStyle/>
                    <a:p>
                      <a:r>
                        <a:rPr sz="1600">
                          <a:solidFill>
                            <a:srgbClr val="212122"/>
                          </a:solidFill>
                          <a:latin typeface="Source Sans 3"/>
                        </a:rPr>
                        <a:t>Tax, money, documents at one table</a:t>
                      </a:r>
                    </a:p>
                  </a:txBody>
                  <a:tcPr>
                    <a:solidFill>
                      <a:srgbClr val="FFFFFF"/>
                    </a:solidFill>
                  </a:tcPr>
                </a:tc>
              </a:tr>
              <a:tr h="731520">
                <a:tc>
                  <a:txBody>
                    <a:bodyPr/>
                    <a:lstStyle/>
                    <a:p>
                      <a:r>
                        <a:rPr sz="1600">
                          <a:solidFill>
                            <a:srgbClr val="212122"/>
                          </a:solidFill>
                          <a:latin typeface="Source Sans 3"/>
                        </a:rPr>
                        <a:t>One meeting, done</a:t>
                      </a:r>
                    </a:p>
                  </a:txBody>
                  <a:tcPr>
                    <a:solidFill>
                      <a:srgbClr val="EDEDED"/>
                    </a:solidFill>
                  </a:tcPr>
                </a:tc>
                <a:tc>
                  <a:txBody>
                    <a:bodyPr/>
                    <a:lstStyle/>
                    <a:p>
                      <a:r>
                        <a:rPr sz="1600">
                          <a:solidFill>
                            <a:srgbClr val="212122"/>
                          </a:solidFill>
                          <a:latin typeface="Source Sans 3"/>
                        </a:rPr>
                        <a:t>Walk the PATH every year</a:t>
                      </a:r>
                    </a:p>
                  </a:txBody>
                  <a:tcPr>
                    <a:solidFill>
                      <a:srgbClr val="EDEDED"/>
                    </a:solidFill>
                  </a:tcPr>
                </a:tc>
              </a:tr>
              <a:tr h="731520">
                <a:tc>
                  <a:txBody>
                    <a:bodyPr/>
                    <a:lstStyle/>
                    <a:p>
                      <a:r>
                        <a:rPr sz="1600">
                          <a:solidFill>
                            <a:srgbClr val="212122"/>
                          </a:solidFill>
                          <a:latin typeface="Source Sans 3"/>
                        </a:rPr>
                        <a:t>Family finds out at the funeral</a:t>
                      </a:r>
                    </a:p>
                  </a:txBody>
                  <a:tcPr>
                    <a:solidFill>
                      <a:srgbClr val="FFFFFF"/>
                    </a:solidFill>
                  </a:tcPr>
                </a:tc>
                <a:tc>
                  <a:txBody>
                    <a:bodyPr/>
                    <a:lstStyle/>
                    <a:p>
                      <a:r>
                        <a:rPr sz="1600">
                          <a:solidFill>
                            <a:srgbClr val="212122"/>
                          </a:solidFill>
                          <a:latin typeface="Source Sans 3"/>
                        </a:rPr>
                        <a:t>Family knows the plan</a:t>
                      </a:r>
                    </a:p>
                  </a:txBody>
                  <a:tcPr>
                    <a:solidFill>
                      <a:srgbClr val="FFFFFF"/>
                    </a:solidFill>
                  </a:tcPr>
                </a:tc>
              </a:tr>
            </a:tbl>
          </a:graphicData>
        </a:graphic>
      </p:graphicFrame>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A trust with nothing in it is a house with no plumbing.</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"We Don't Have Enough to Need This"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No Colorado estate tax: this isn't about tax</a:t>
            </a:r>
          </a:p>
          <a:p>
            <a:pPr algn="l">
              <a:spcAft>
                <a:spcPts val="1320"/>
              </a:spcAft>
            </a:pPr>
            <a:r>
              <a:rPr sz="2200" b="0">
                <a:solidFill>
                  <a:srgbClr val="444546"/>
                </a:solidFill>
                <a:latin typeface="Source Sans 3"/>
              </a:rPr>
              <a:t>•  Small-estate shortcut: under $88,000</a:t>
            </a:r>
          </a:p>
          <a:p>
            <a:pPr algn="l">
              <a:spcAft>
                <a:spcPts val="1320"/>
              </a:spcAft>
            </a:pPr>
            <a:r>
              <a:rPr sz="2200" b="0">
                <a:solidFill>
                  <a:srgbClr val="444546"/>
                </a:solidFill>
                <a:latin typeface="Source Sans 3"/>
              </a:rPr>
              <a:t>•  Median Larimer home: $610,000</a:t>
            </a:r>
          </a:p>
          <a:p>
            <a:pPr algn="l">
              <a:spcAft>
                <a:spcPts val="1320"/>
              </a:spcAft>
            </a:pPr>
            <a:r>
              <a:rPr sz="2200" b="0">
                <a:solidFill>
                  <a:srgbClr val="444546"/>
                </a:solidFill>
                <a:latin typeface="Source Sans 3"/>
              </a:rPr>
              <a:t>•  Incapacity doesn't check your balance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Why Now, Not Next Year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You can only sign while you're able to sign</a:t>
            </a:r>
          </a:p>
          <a:p>
            <a:pPr algn="l">
              <a:spcAft>
                <a:spcPts val="1320"/>
              </a:spcAft>
            </a:pPr>
            <a:r>
              <a:rPr sz="2200" b="0">
                <a:solidFill>
                  <a:srgbClr val="444546"/>
                </a:solidFill>
                <a:latin typeface="Source Sans 3"/>
              </a:rPr>
              <a:t>•  A beneficiary deed must be recorded before death</a:t>
            </a:r>
          </a:p>
          <a:p>
            <a:pPr algn="l">
              <a:spcAft>
                <a:spcPts val="1320"/>
              </a:spcAft>
            </a:pPr>
            <a:r>
              <a:rPr sz="2200" b="0">
                <a:solidFill>
                  <a:srgbClr val="444546"/>
                </a:solidFill>
                <a:latin typeface="Source Sans 3"/>
              </a:rPr>
              <a:t>•  43% without a will 'just haven't gotten around to it'</a:t>
            </a:r>
          </a:p>
          <a:p>
            <a:pPr algn="l">
              <a:spcAft>
                <a:spcPts val="1320"/>
              </a:spcAft>
            </a:pPr>
            <a:r>
              <a:rPr sz="2200" b="0">
                <a:solidFill>
                  <a:srgbClr val="444546"/>
                </a:solidFill>
                <a:latin typeface="Source Sans 3"/>
              </a:rPr>
              <a:t>•  A birthday, retirement, grandchild, move, or loss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The Three Big Ideas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1. A will doesn't keep you out of court</a:t>
            </a:r>
          </a:p>
          <a:p>
            <a:pPr algn="l">
              <a:spcAft>
                <a:spcPts val="1320"/>
              </a:spcAft>
            </a:pPr>
            <a:r>
              <a:rPr sz="2200" b="0">
                <a:solidFill>
                  <a:srgbClr val="444546"/>
                </a:solidFill>
                <a:latin typeface="Source Sans 3"/>
              </a:rPr>
              <a:t>•  2. The deadline is the day you can't decide</a:t>
            </a:r>
          </a:p>
          <a:p>
            <a:pPr algn="l">
              <a:spcAft>
                <a:spcPts val="1320"/>
              </a:spcAft>
            </a:pPr>
            <a:r>
              <a:rPr sz="2200" b="0">
                <a:solidFill>
                  <a:srgbClr val="444546"/>
                </a:solidFill>
                <a:latin typeface="Source Sans 3"/>
              </a:rPr>
              <a:t>•  3. A plan nobody maintains fails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Which Means...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A will alone means court, which means: know every asset's road</a:t>
            </a:r>
          </a:p>
          <a:p>
            <a:pPr algn="l">
              <a:spcAft>
                <a:spcPts val="1320"/>
              </a:spcAft>
            </a:pPr>
            <a:r>
              <a:rPr sz="2200" b="0">
                <a:solidFill>
                  <a:srgbClr val="444546"/>
                </a:solidFill>
                <a:latin typeface="Source Sans 3"/>
              </a:rPr>
              <a:t>•  Incapacity comes first, which means: POAs now</a:t>
            </a:r>
          </a:p>
          <a:p>
            <a:pPr algn="l">
              <a:spcAft>
                <a:spcPts val="1320"/>
              </a:spcAft>
            </a:pPr>
            <a:r>
              <a:rPr sz="2200" b="0">
                <a:solidFill>
                  <a:srgbClr val="444546"/>
                </a:solidFill>
                <a:latin typeface="Source Sans 3"/>
              </a:rPr>
              <a:t>•  Plans drift, which means: walk the PATH every year</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Three paths from here.</a:t>
            </a:r>
          </a:p>
        </p:txBody>
      </p:sp>
      <p:sp>
        <p:nvSpPr>
          <p:cNvPr id="4" name="TextBox 3"/>
          <p:cNvSpPr txBox="1"/>
          <p:nvPr/>
        </p:nvSpPr>
        <p:spPr>
          <a:xfrm>
            <a:off x="1005840" y="3657600"/>
            <a:ext cx="5212079" cy="1371600"/>
          </a:xfrm>
          <a:prstGeom prst="rect">
            <a:avLst/>
          </a:prstGeom>
          <a:noFill/>
        </p:spPr>
        <p:txBody>
          <a:bodyPr wrap="square" anchor="t" lIns="45720" rIns="45720">
            <a:spAutoFit/>
          </a:bodyPr>
          <a:lstStyle/>
          <a:p>
            <a:pPr algn="l"/>
            <a:r>
              <a:rPr sz="2200" b="0">
                <a:solidFill>
                  <a:srgbClr val="444546"/>
                </a:solidFill>
                <a:latin typeface="Source Sans 3"/>
              </a:rPr>
              <a:t>Do nothing. Do it yourself. Get help.</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Rectangle 1"/>
          <p:cNvSpPr/>
          <p:nvPr/>
        </p:nvSpPr>
        <p:spPr>
          <a:xfrm>
            <a:off x="640080" y="914400"/>
            <a:ext cx="109728" cy="2377440"/>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822960"/>
            <a:ext cx="10545775" cy="2560320"/>
          </a:xfrm>
          <a:prstGeom prst="rect">
            <a:avLst/>
          </a:prstGeom>
          <a:noFill/>
        </p:spPr>
        <p:txBody>
          <a:bodyPr wrap="square" anchor="ctr" lIns="45720" rIns="45720">
            <a:spAutoFit/>
          </a:bodyPr>
          <a:lstStyle/>
          <a:p>
            <a:pPr algn="l"/>
            <a:r>
              <a:rPr sz="4400" b="1">
                <a:solidFill>
                  <a:srgbClr val="212122"/>
                </a:solidFill>
                <a:latin typeface="Playfair Display"/>
              </a:rPr>
              <a:t>Work with me, or someone like me.</a:t>
            </a: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12122"/>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FFFFFF"/>
                </a:solidFill>
                <a:latin typeface="Playfair Display"/>
              </a:rPr>
              <a:t>The PATH Review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40080" y="2011680"/>
            <a:ext cx="5577840" cy="1371600"/>
          </a:xfrm>
          <a:prstGeom prst="rect">
            <a:avLst/>
          </a:prstGeom>
          <a:solidFill>
            <a:srgbClr val="4B4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2121408"/>
            <a:ext cx="5120640" cy="411480"/>
          </a:xfrm>
          <a:prstGeom prst="rect">
            <a:avLst/>
          </a:prstGeom>
          <a:noFill/>
        </p:spPr>
        <p:txBody>
          <a:bodyPr wrap="square" anchor="t" lIns="45720" rIns="45720">
            <a:spAutoFit/>
          </a:bodyPr>
          <a:lstStyle/>
          <a:p>
            <a:pPr algn="l"/>
            <a:r>
              <a:rPr sz="1600" b="1">
                <a:solidFill>
                  <a:srgbClr val="C8963E"/>
                </a:solidFill>
                <a:latin typeface="Source Sans 3"/>
              </a:rPr>
              <a:t>You'll walk away with:</a:t>
            </a:r>
          </a:p>
        </p:txBody>
      </p:sp>
      <p:sp>
        <p:nvSpPr>
          <p:cNvPr id="6" name="TextBox 5"/>
          <p:cNvSpPr txBox="1"/>
          <p:nvPr/>
        </p:nvSpPr>
        <p:spPr>
          <a:xfrm>
            <a:off x="868680" y="2514600"/>
            <a:ext cx="5120640" cy="822960"/>
          </a:xfrm>
          <a:prstGeom prst="rect">
            <a:avLst/>
          </a:prstGeom>
          <a:noFill/>
        </p:spPr>
        <p:txBody>
          <a:bodyPr wrap="square" anchor="t" lIns="45720" rIns="45720">
            <a:spAutoFit/>
          </a:bodyPr>
          <a:lstStyle/>
          <a:p>
            <a:pPr algn="l"/>
            <a:r>
              <a:rPr sz="1800" b="0">
                <a:solidFill>
                  <a:srgbClr val="FFFFFF"/>
                </a:solidFill>
                <a:latin typeface="Source Sans 3"/>
              </a:rPr>
              <a:t>A one-page PATH Map plus a Legacy Document Checklist (estate edition)</a:t>
            </a:r>
          </a:p>
        </p:txBody>
      </p:sp>
      <p:sp>
        <p:nvSpPr>
          <p:cNvPr id="7" name="TextBox 6"/>
          <p:cNvSpPr txBox="1"/>
          <p:nvPr/>
        </p:nvSpPr>
        <p:spPr>
          <a:xfrm>
            <a:off x="640080" y="3611880"/>
            <a:ext cx="5577840" cy="2377440"/>
          </a:xfrm>
          <a:prstGeom prst="rect">
            <a:avLst/>
          </a:prstGeom>
          <a:noFill/>
        </p:spPr>
        <p:txBody>
          <a:bodyPr wrap="square" anchor="t" lIns="45720" rIns="45720">
            <a:spAutoFit/>
          </a:bodyPr>
          <a:lstStyle/>
          <a:p>
            <a:pPr algn="l">
              <a:spcAft>
                <a:spcPts val="1200"/>
              </a:spcAft>
            </a:pPr>
            <a:r>
              <a:rPr sz="2000" b="0">
                <a:solidFill>
                  <a:srgbClr val="FFFFFF"/>
                </a:solidFill>
                <a:latin typeface="Source Sans 3"/>
              </a:rPr>
              <a:t>•  60 minutes, my Fort Collins office or Zoom</a:t>
            </a:r>
          </a:p>
          <a:p>
            <a:pPr algn="l">
              <a:spcAft>
                <a:spcPts val="1200"/>
              </a:spcAft>
            </a:pPr>
            <a:r>
              <a:rPr sz="2000" b="0">
                <a:solidFill>
                  <a:srgbClr val="FFFFFF"/>
                </a:solidFill>
                <a:latin typeface="Source Sans 3"/>
              </a:rPr>
              <a:t>•  One-page PATH Map plus a Legacy Document Checklist</a:t>
            </a:r>
          </a:p>
          <a:p>
            <a:pPr algn="l">
              <a:spcAft>
                <a:spcPts val="1200"/>
              </a:spcAft>
            </a:pPr>
            <a:r>
              <a:rPr sz="2000" b="0">
                <a:solidFill>
                  <a:srgbClr val="FFFFFF"/>
                </a:solidFill>
                <a:latin typeface="Source Sans 3"/>
              </a:rPr>
              <a:t>•  No cost, no obligation</a:t>
            </a:r>
          </a:p>
          <a:p>
            <a:pPr algn="l">
              <a:spcAft>
                <a:spcPts val="1200"/>
              </a:spcAft>
            </a:pPr>
            <a:r>
              <a:rPr sz="2000" b="0">
                <a:solidFill>
                  <a:srgbClr val="FFFFFF"/>
                </a:solidFill>
                <a:latin typeface="Source Sans 3"/>
              </a:rPr>
              <a:t>•  You keep both either way</a:t>
            </a:r>
          </a:p>
        </p:txBody>
      </p:sp>
      <p:sp>
        <p:nvSpPr>
          <p:cNvPr id="8" name="TextBox 7"/>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What Happens in the Hour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Paycheck: what you need, and from where</a:t>
            </a:r>
          </a:p>
          <a:p>
            <a:pPr algn="l">
              <a:spcAft>
                <a:spcPts val="1320"/>
              </a:spcAft>
            </a:pPr>
            <a:r>
              <a:rPr sz="2200" b="0">
                <a:solidFill>
                  <a:srgbClr val="444546"/>
                </a:solidFill>
                <a:latin typeface="Source Sans 3"/>
              </a:rPr>
              <a:t>•  Assets: what a bad year would do</a:t>
            </a:r>
          </a:p>
          <a:p>
            <a:pPr algn="l">
              <a:spcAft>
                <a:spcPts val="1320"/>
              </a:spcAft>
            </a:pPr>
            <a:r>
              <a:rPr sz="2200" b="0">
                <a:solidFill>
                  <a:srgbClr val="444546"/>
                </a:solidFill>
                <a:latin typeface="Source Sans 3"/>
              </a:rPr>
              <a:t>•  Taxes: a first look at last year's return</a:t>
            </a:r>
          </a:p>
          <a:p>
            <a:pPr algn="l">
              <a:spcAft>
                <a:spcPts val="1320"/>
              </a:spcAft>
            </a:pPr>
            <a:r>
              <a:rPr sz="2200" b="0">
                <a:solidFill>
                  <a:srgbClr val="444546"/>
                </a:solidFill>
                <a:latin typeface="Source Sans 3"/>
              </a:rPr>
              <a:t>•  Heirs: documents, beneficiaries, titles</a:t>
            </a:r>
          </a:p>
          <a:p>
            <a:pPr algn="l">
              <a:spcAft>
                <a:spcPts val="1320"/>
              </a:spcAft>
            </a:pPr>
            <a:r>
              <a:rPr sz="2200" b="0">
                <a:solidFill>
                  <a:srgbClr val="444546"/>
                </a:solidFill>
                <a:latin typeface="Source Sans 3"/>
              </a:rPr>
              <a:t>•  Your PATH Map and top three gaps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Who It's For</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For: couples or singles, about 58 to 70</a:t>
            </a:r>
          </a:p>
          <a:p>
            <a:pPr algn="l">
              <a:spcAft>
                <a:spcPts val="1320"/>
              </a:spcAft>
            </a:pPr>
            <a:r>
              <a:rPr sz="2200" b="0">
                <a:solidFill>
                  <a:srgbClr val="444546"/>
                </a:solidFill>
                <a:latin typeface="Source Sans 3"/>
              </a:rPr>
              <a:t>•  For: real retirement savings and a home</a:t>
            </a:r>
          </a:p>
          <a:p>
            <a:pPr algn="l">
              <a:spcAft>
                <a:spcPts val="1320"/>
              </a:spcAft>
            </a:pPr>
            <a:r>
              <a:rPr sz="2200" b="0">
                <a:solidFill>
                  <a:srgbClr val="444546"/>
                </a:solidFill>
                <a:latin typeface="Source Sans 3"/>
              </a:rPr>
              <a:t>•  For: people who want a clear recommendation</a:t>
            </a:r>
          </a:p>
          <a:p>
            <a:pPr algn="l">
              <a:spcAft>
                <a:spcPts val="1320"/>
              </a:spcAft>
            </a:pPr>
            <a:r>
              <a:rPr sz="2200" b="0">
                <a:solidFill>
                  <a:srgbClr val="444546"/>
                </a:solidFill>
                <a:latin typeface="Source Sans 3"/>
              </a:rPr>
              <a:t>•  Not for: DIY legal forms or stock tips</a:t>
            </a:r>
          </a:p>
          <a:p>
            <a:pPr algn="l">
              <a:spcAft>
                <a:spcPts val="1320"/>
              </a:spcAft>
            </a:pPr>
            <a:r>
              <a:rPr sz="2200" b="0">
                <a:solidFill>
                  <a:srgbClr val="444546"/>
                </a:solidFill>
                <a:latin typeface="Source Sans 3"/>
              </a:rPr>
              <a:t>•  Not for: a second opinion you won't use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Your Next Steps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1. Reserve your PATH Review</a:t>
            </a:r>
          </a:p>
          <a:p>
            <a:pPr algn="l">
              <a:spcAft>
                <a:spcPts val="1320"/>
              </a:spcAft>
            </a:pPr>
            <a:r>
              <a:rPr sz="2200" b="0">
                <a:solidFill>
                  <a:srgbClr val="444546"/>
                </a:solidFill>
                <a:latin typeface="Source Sans 3"/>
              </a:rPr>
              <a:t>•  2. Answer a short questionnaire</a:t>
            </a:r>
          </a:p>
          <a:p>
            <a:pPr algn="l">
              <a:spcAft>
                <a:spcPts val="1320"/>
              </a:spcAft>
            </a:pPr>
            <a:r>
              <a:rPr sz="2200" b="0">
                <a:solidFill>
                  <a:srgbClr val="444546"/>
                </a:solidFill>
                <a:latin typeface="Source Sans 3"/>
              </a:rPr>
              <a:t>•  3. Bring last year's tax return and a document list</a:t>
            </a:r>
          </a:p>
          <a:p>
            <a:pPr algn="l">
              <a:spcAft>
                <a:spcPts val="1320"/>
              </a:spcAft>
            </a:pPr>
            <a:r>
              <a:rPr sz="2200" b="0">
                <a:solidFill>
                  <a:srgbClr val="444546"/>
                </a:solidFill>
                <a:latin typeface="Source Sans 3"/>
              </a:rPr>
              <a:t>•  4. Show up, and bring your spouse</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Reserve My PATH Review</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40080" y="2103120"/>
            <a:ext cx="2743200" cy="2743200"/>
          </a:xfrm>
          <a:prstGeom prst="rect">
            <a:avLst/>
          </a:prstGeom>
        </p:spPr>
      </p:pic>
      <p:sp>
        <p:nvSpPr>
          <p:cNvPr id="5" name="TextBox 4"/>
          <p:cNvSpPr txBox="1"/>
          <p:nvPr/>
        </p:nvSpPr>
        <p:spPr>
          <a:xfrm>
            <a:off x="3657600" y="2103120"/>
            <a:ext cx="3017520" cy="548640"/>
          </a:xfrm>
          <a:prstGeom prst="rect">
            <a:avLst/>
          </a:prstGeom>
          <a:noFill/>
        </p:spPr>
        <p:txBody>
          <a:bodyPr wrap="square" anchor="t" lIns="45720" rIns="45720">
            <a:spAutoFit/>
          </a:bodyPr>
          <a:lstStyle/>
          <a:p>
            <a:pPr algn="l"/>
            <a:r>
              <a:rPr sz="1600" b="0">
                <a:solidFill>
                  <a:srgbClr val="444546"/>
                </a:solidFill>
                <a:latin typeface="Source Sans 3"/>
              </a:rPr>
              <a:t>Scan, or go to:</a:t>
            </a:r>
          </a:p>
        </p:txBody>
      </p:sp>
      <p:sp>
        <p:nvSpPr>
          <p:cNvPr id="6" name="TextBox 5"/>
          <p:cNvSpPr txBox="1"/>
          <p:nvPr/>
        </p:nvSpPr>
        <p:spPr>
          <a:xfrm>
            <a:off x="3657600" y="2560320"/>
            <a:ext cx="5029200" cy="731520"/>
          </a:xfrm>
          <a:prstGeom prst="rect">
            <a:avLst/>
          </a:prstGeom>
          <a:noFill/>
        </p:spPr>
        <p:txBody>
          <a:bodyPr wrap="square" anchor="t" lIns="45720" rIns="45720">
            <a:spAutoFit/>
          </a:bodyPr>
          <a:lstStyle/>
          <a:p>
            <a:pPr algn="l"/>
            <a:r>
              <a:rPr sz="2200" b="1">
                <a:solidFill>
                  <a:srgbClr val="4B4C4D"/>
                </a:solidFill>
                <a:latin typeface="Source Sans 3"/>
              </a:rPr>
              <a:t>balancedfinancialinc.com/path-review</a:t>
            </a:r>
          </a:p>
        </p:txBody>
      </p:sp>
      <p:sp>
        <p:nvSpPr>
          <p:cNvPr id="7" name="TextBox 6"/>
          <p:cNvSpPr txBox="1"/>
          <p:nvPr/>
        </p:nvSpPr>
        <p:spPr>
          <a:xfrm>
            <a:off x="3657600" y="3291840"/>
            <a:ext cx="2651760" cy="2377440"/>
          </a:xfrm>
          <a:prstGeom prst="rect">
            <a:avLst/>
          </a:prstGeom>
          <a:noFill/>
        </p:spPr>
        <p:txBody>
          <a:bodyPr wrap="square" anchor="t" lIns="45720" rIns="45720">
            <a:spAutoFit/>
          </a:bodyPr>
          <a:lstStyle/>
          <a:p>
            <a:pPr algn="l">
              <a:spcAft>
                <a:spcPts val="960"/>
              </a:spcAft>
            </a:pPr>
            <a:r>
              <a:rPr sz="1600" b="0">
                <a:solidFill>
                  <a:srgbClr val="444546"/>
                </a:solidFill>
                <a:latin typeface="Source Sans 3"/>
              </a:rPr>
              <a:t>•  About 8 PATH Reviews a month</a:t>
            </a:r>
          </a:p>
          <a:p>
            <a:pPr algn="l">
              <a:spcAft>
                <a:spcPts val="960"/>
              </a:spcAft>
            </a:pPr>
            <a:r>
              <a:rPr sz="1600" b="0">
                <a:solidFill>
                  <a:srgbClr val="444546"/>
                </a:solidFill>
                <a:latin typeface="Source Sans 3"/>
              </a:rPr>
              <a:t>•  Booking takes about a minute</a:t>
            </a:r>
          </a:p>
        </p:txBody>
      </p:sp>
      <p:sp>
        <p:nvSpPr>
          <p:cNvPr id="8" name="TextBox 7"/>
          <p:cNvSpPr txBox="1"/>
          <p:nvPr/>
        </p:nvSpPr>
        <p:spPr>
          <a:xfrm>
            <a:off x="640080" y="6035040"/>
            <a:ext cx="5577840" cy="457200"/>
          </a:xfrm>
          <a:prstGeom prst="rect">
            <a:avLst/>
          </a:prstGeom>
          <a:noFill/>
        </p:spPr>
        <p:txBody>
          <a:bodyPr wrap="square" anchor="t" lIns="45720" rIns="45720">
            <a:spAutoFit/>
          </a:bodyPr>
          <a:lstStyle/>
          <a:p>
            <a:pPr algn="l"/>
            <a:r>
              <a:rPr sz="1200" b="0">
                <a:solidFill>
                  <a:srgbClr val="444546"/>
                </a:solidFill>
                <a:latin typeface="Source Sans 3"/>
              </a:rPr>
              <a:t>Educational only. Not legal, tax, or investment advice. Estate documents are prepared by a licensed attorney. Insurance or investment products may be discussed in a private meeting. [PLACEHOLDER: Greg's required RIA and insurance disclosure, pending his approver.]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4B4C4D"/>
        </a:solidFill>
        <a:effectLst/>
      </p:bgPr>
    </p:bg>
    <p:spTree>
      <p:nvGrpSpPr>
        <p:cNvPr id="1" name=""/>
        <p:cNvGrpSpPr/>
        <p:nvPr/>
      </p:nvGrpSpPr>
      <p:grpSpPr/>
      <p:sp>
        <p:nvSpPr>
          <p:cNvPr id="2" name="TextBox 1"/>
          <p:cNvSpPr txBox="1"/>
          <p:nvPr/>
        </p:nvSpPr>
        <p:spPr>
          <a:xfrm>
            <a:off x="640080" y="914400"/>
            <a:ext cx="10911535" cy="2377440"/>
          </a:xfrm>
          <a:prstGeom prst="rect">
            <a:avLst/>
          </a:prstGeom>
          <a:noFill/>
        </p:spPr>
        <p:txBody>
          <a:bodyPr wrap="square" anchor="ctr" lIns="45720" rIns="45720">
            <a:spAutoFit/>
          </a:bodyPr>
          <a:lstStyle/>
          <a:p>
            <a:pPr algn="l"/>
            <a:r>
              <a:rPr sz="4000" b="1">
                <a:solidFill>
                  <a:srgbClr val="FFFFFF"/>
                </a:solidFill>
                <a:latin typeface="Playfair Display"/>
              </a:rPr>
              <a:t>Why I do this work.</a:t>
            </a:r>
          </a:p>
        </p:txBody>
      </p:sp>
      <p:sp>
        <p:nvSpPr>
          <p:cNvPr id="3" name="Rectangle 2"/>
          <p:cNvSpPr/>
          <p:nvPr/>
        </p:nvSpPr>
        <p:spPr>
          <a:xfrm>
            <a:off x="685800" y="342900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FFFFFF"/>
                </a:solidFill>
                <a:latin typeface="Source Sans 3"/>
              </a:rPr>
              <a:t>Balanced Financial, Inc. · Fort Collins, Colorado</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"Our Kids Will Figure It Out"</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They'll be grieving, not organized</a:t>
            </a:r>
          </a:p>
          <a:p>
            <a:pPr algn="l">
              <a:spcAft>
                <a:spcPts val="1320"/>
              </a:spcAft>
            </a:pPr>
            <a:r>
              <a:rPr sz="2200" b="0">
                <a:solidFill>
                  <a:srgbClr val="444546"/>
                </a:solidFill>
                <a:latin typeface="Source Sans 3"/>
              </a:rPr>
              <a:t>•  They'll need authority, not just love</a:t>
            </a:r>
          </a:p>
          <a:p>
            <a:pPr algn="l">
              <a:spcAft>
                <a:spcPts val="1320"/>
              </a:spcAft>
            </a:pPr>
            <a:r>
              <a:rPr sz="2200" b="0">
                <a:solidFill>
                  <a:srgbClr val="444546"/>
                </a:solidFill>
                <a:latin typeface="Source Sans 3"/>
              </a:rPr>
              <a:t>•  Kindness is instructions, not puzzles</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"We Already Have a Will"</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965960"/>
            <a:ext cx="5577840" cy="4251959"/>
          </a:xfrm>
          <a:prstGeom prst="rect">
            <a:avLst/>
          </a:prstGeom>
          <a:noFill/>
        </p:spPr>
        <p:txBody>
          <a:bodyPr wrap="square" anchor="t" lIns="45720" rIns="45720">
            <a:spAutoFit/>
          </a:bodyPr>
          <a:lstStyle/>
          <a:p>
            <a:pPr algn="l">
              <a:spcAft>
                <a:spcPts val="1320"/>
              </a:spcAft>
            </a:pPr>
            <a:r>
              <a:rPr sz="2200" b="0">
                <a:solidFill>
                  <a:srgbClr val="444546"/>
                </a:solidFill>
                <a:latin typeface="Source Sans 3"/>
              </a:rPr>
              <a:t>•  Great start: check it against the three big ideas</a:t>
            </a:r>
          </a:p>
          <a:p>
            <a:pPr algn="l">
              <a:spcAft>
                <a:spcPts val="1320"/>
              </a:spcAft>
            </a:pPr>
            <a:r>
              <a:rPr sz="2200" b="0">
                <a:solidFill>
                  <a:srgbClr val="444546"/>
                </a:solidFill>
                <a:latin typeface="Source Sans 3"/>
              </a:rPr>
              <a:t>•  Which road is each asset on?</a:t>
            </a:r>
          </a:p>
          <a:p>
            <a:pPr algn="l">
              <a:spcAft>
                <a:spcPts val="1320"/>
              </a:spcAft>
            </a:pPr>
            <a:r>
              <a:rPr sz="2200" b="0">
                <a:solidFill>
                  <a:srgbClr val="444546"/>
                </a:solidFill>
                <a:latin typeface="Source Sans 3"/>
              </a:rPr>
              <a:t>•  Are POAs signed and current?</a:t>
            </a:r>
          </a:p>
          <a:p>
            <a:pPr algn="l">
              <a:spcAft>
                <a:spcPts val="1320"/>
              </a:spcAft>
            </a:pPr>
            <a:r>
              <a:rPr sz="2200" b="0">
                <a:solidFill>
                  <a:srgbClr val="444546"/>
                </a:solidFill>
                <a:latin typeface="Source Sans 3"/>
              </a:rPr>
              <a:t>•  Checked since life changed?</a:t>
            </a:r>
          </a:p>
        </p:txBody>
      </p:sp>
      <p:sp>
        <p:nvSpPr>
          <p:cNvPr id="5" name="TextBox 4"/>
          <p:cNvSpPr txBox="1"/>
          <p:nvPr/>
        </p:nvSpPr>
        <p:spPr>
          <a:xfrm>
            <a:off x="640080" y="6400800"/>
            <a:ext cx="5577840" cy="320040"/>
          </a:xfrm>
          <a:prstGeom prst="rect">
            <a:avLst/>
          </a:prstGeom>
          <a:noFill/>
        </p:spPr>
        <p:txBody>
          <a:bodyPr wrap="square" anchor="t" lIns="45720" rIns="45720">
            <a:spAutoFit/>
          </a:bodyPr>
          <a:lstStyle/>
          <a:p>
            <a:pPr algn="l"/>
            <a:r>
              <a:rPr sz="1200" b="0">
                <a:solidFill>
                  <a:srgbClr val="444546"/>
                </a:solidFill>
                <a:latin typeface="Source Sans 3"/>
              </a:rPr>
              <a:t>Balanced Financial, Inc. · Fort Collins, Colorado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9F9F9"/>
        </a:solidFill>
        <a:effectLst/>
      </p:bgPr>
    </p:bg>
    <p:spTree>
      <p:nvGrpSpPr>
        <p:cNvPr id="1" name=""/>
        <p:cNvGrpSpPr/>
        <p:nvPr/>
      </p:nvGrpSpPr>
      <p:grpSpPr/>
      <p:sp>
        <p:nvSpPr>
          <p:cNvPr id="2" name="TextBox 1"/>
          <p:cNvSpPr txBox="1"/>
          <p:nvPr/>
        </p:nvSpPr>
        <p:spPr>
          <a:xfrm>
            <a:off x="640080" y="502920"/>
            <a:ext cx="10911535" cy="1097280"/>
          </a:xfrm>
          <a:prstGeom prst="rect">
            <a:avLst/>
          </a:prstGeom>
          <a:noFill/>
        </p:spPr>
        <p:txBody>
          <a:bodyPr wrap="square" anchor="ctr" lIns="45720" rIns="45720">
            <a:spAutoFit/>
          </a:bodyPr>
          <a:lstStyle/>
          <a:p>
            <a:pPr algn="l"/>
            <a:r>
              <a:rPr sz="3600" b="1">
                <a:solidFill>
                  <a:srgbClr val="212122"/>
                </a:solidFill>
                <a:latin typeface="Playfair Display"/>
              </a:rPr>
              <a:t>Your Questions</a:t>
            </a:r>
          </a:p>
        </p:txBody>
      </p:sp>
      <p:sp>
        <p:nvSpPr>
          <p:cNvPr id="3" name="Rectangle 2"/>
          <p:cNvSpPr/>
          <p:nvPr/>
        </p:nvSpPr>
        <p:spPr>
          <a:xfrm>
            <a:off x="685800" y="1645920"/>
            <a:ext cx="1005840" cy="64008"/>
          </a:xfrm>
          <a:prstGeom prst="rect">
            <a:avLst/>
          </a:prstGeom>
          <a:solidFill>
            <a:srgbClr val="C89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40080" y="2103120"/>
            <a:ext cx="2743200" cy="2743200"/>
          </a:xfrm>
          <a:prstGeom prst="rect">
            <a:avLst/>
          </a:prstGeom>
        </p:spPr>
      </p:pic>
      <p:sp>
        <p:nvSpPr>
          <p:cNvPr id="5" name="TextBox 4"/>
          <p:cNvSpPr txBox="1"/>
          <p:nvPr/>
        </p:nvSpPr>
        <p:spPr>
          <a:xfrm>
            <a:off x="3657600" y="2103120"/>
            <a:ext cx="3017520" cy="548640"/>
          </a:xfrm>
          <a:prstGeom prst="rect">
            <a:avLst/>
          </a:prstGeom>
          <a:noFill/>
        </p:spPr>
        <p:txBody>
          <a:bodyPr wrap="square" anchor="t" lIns="45720" rIns="45720">
            <a:spAutoFit/>
          </a:bodyPr>
          <a:lstStyle/>
          <a:p>
            <a:pPr algn="l"/>
            <a:r>
              <a:rPr sz="1600" b="0">
                <a:solidFill>
                  <a:srgbClr val="444546"/>
                </a:solidFill>
                <a:latin typeface="Source Sans 3"/>
              </a:rPr>
              <a:t>Scan, or go to:</a:t>
            </a:r>
          </a:p>
        </p:txBody>
      </p:sp>
      <p:sp>
        <p:nvSpPr>
          <p:cNvPr id="6" name="TextBox 5"/>
          <p:cNvSpPr txBox="1"/>
          <p:nvPr/>
        </p:nvSpPr>
        <p:spPr>
          <a:xfrm>
            <a:off x="3657600" y="2560320"/>
            <a:ext cx="5029200" cy="731520"/>
          </a:xfrm>
          <a:prstGeom prst="rect">
            <a:avLst/>
          </a:prstGeom>
          <a:noFill/>
        </p:spPr>
        <p:txBody>
          <a:bodyPr wrap="square" anchor="t" lIns="45720" rIns="45720">
            <a:spAutoFit/>
          </a:bodyPr>
          <a:lstStyle/>
          <a:p>
            <a:pPr algn="l"/>
            <a:r>
              <a:rPr sz="2200" b="1">
                <a:solidFill>
                  <a:srgbClr val="4B4C4D"/>
                </a:solidFill>
                <a:latin typeface="Source Sans 3"/>
              </a:rPr>
              <a:t>balancedfinancialinc.com/path-review</a:t>
            </a:r>
          </a:p>
        </p:txBody>
      </p:sp>
      <p:sp>
        <p:nvSpPr>
          <p:cNvPr id="7" name="TextBox 6"/>
          <p:cNvSpPr txBox="1"/>
          <p:nvPr/>
        </p:nvSpPr>
        <p:spPr>
          <a:xfrm>
            <a:off x="3657600" y="3291840"/>
            <a:ext cx="2651760" cy="2377440"/>
          </a:xfrm>
          <a:prstGeom prst="rect">
            <a:avLst/>
          </a:prstGeom>
          <a:noFill/>
        </p:spPr>
        <p:txBody>
          <a:bodyPr wrap="square" anchor="t" lIns="45720" rIns="45720">
            <a:spAutoFit/>
          </a:bodyPr>
          <a:lstStyle/>
          <a:p>
            <a:pPr algn="l">
              <a:spcAft>
                <a:spcPts val="960"/>
              </a:spcAft>
            </a:pPr>
            <a:r>
              <a:rPr sz="1600" b="0">
                <a:solidFill>
                  <a:srgbClr val="444546"/>
                </a:solidFill>
                <a:latin typeface="Source Sans 3"/>
              </a:rPr>
              <a:t>•  Booking link stays pinned in the chat</a:t>
            </a:r>
          </a:p>
          <a:p>
            <a:pPr algn="l">
              <a:spcAft>
                <a:spcPts val="960"/>
              </a:spcAft>
            </a:pPr>
            <a:r>
              <a:rPr sz="1600" b="0">
                <a:solidFill>
                  <a:srgbClr val="444546"/>
                </a:solidFill>
                <a:latin typeface="Source Sans 3"/>
              </a:rPr>
              <a:t>•  Reserve My PATH Review</a:t>
            </a:r>
          </a:p>
        </p:txBody>
      </p:sp>
      <p:sp>
        <p:nvSpPr>
          <p:cNvPr id="8" name="TextBox 7"/>
          <p:cNvSpPr txBox="1"/>
          <p:nvPr/>
        </p:nvSpPr>
        <p:spPr>
          <a:xfrm>
            <a:off x="640080" y="6035040"/>
            <a:ext cx="5577840" cy="457200"/>
          </a:xfrm>
          <a:prstGeom prst="rect">
            <a:avLst/>
          </a:prstGeom>
          <a:noFill/>
        </p:spPr>
        <p:txBody>
          <a:bodyPr wrap="square" anchor="t" lIns="45720" rIns="45720">
            <a:spAutoFit/>
          </a:bodyPr>
          <a:lstStyle/>
          <a:p>
            <a:pPr algn="l"/>
            <a:r>
              <a:rPr sz="1200" b="0">
                <a:solidFill>
                  <a:srgbClr val="444546"/>
                </a:solidFill>
                <a:latin typeface="Source Sans 3"/>
              </a:rPr>
              <a:t>Educational only. Not legal, tax, or investment advice. Estate documents are prepared by a licensed attorney. Insurance or investment products may be discussed in a private meeting. [PLACEHOLDER: Greg's required RIA and insurance disclosure, pending his approver.]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